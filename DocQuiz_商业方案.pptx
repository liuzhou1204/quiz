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年化收入 (万元)</c:v>
                </c:pt>
              </c:strCache>
            </c:strRef>
          </c:tx>
          <c:spPr>
            <a:solidFill>
              <a:srgbClr val="6B46C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100" b="0" i="0" u="none" strike="noStrike" kern="1200" baseline="0">
                    <a:solidFill>
                      <a:srgbClr val="0F2B46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验证期
月1-3</c:v>
                </c:pt>
                <c:pt idx="1">
                  <c:v>产品期
月4-6</c:v>
                </c:pt>
                <c:pt idx="2">
                  <c:v>商业期
月7-9</c:v>
                </c:pt>
                <c:pt idx="3">
                  <c:v>扩张期
10-12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3</c:v>
                </c:pt>
                <c:pt idx="2">
                  <c:v>10</c:v>
                </c:pt>
                <c:pt idx="3">
                  <c:v>50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3810" cap="flat" cmpd="sng" algn="ctr">
              <a:solidFill>
                <a:srgbClr val="C4C9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50b8f1fc-29bc-4ad7-8b1e-48e8c7ece913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风险等级</c:v>
                </c:pt>
              </c:strCache>
            </c:strRef>
          </c:tx>
          <c:spPr>
            <a:solidFill>
              <a:srgbClr val="C49B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0F2B46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Sheet1!$A$2:$A$6</c:f>
              <c:strCache>
                <c:ptCount val="5"/>
                <c:pt idx="0">
                  <c:v>资金</c:v>
                </c:pt>
                <c:pt idx="1">
                  <c:v>运营</c:v>
                </c:pt>
                <c:pt idx="2">
                  <c:v>市场</c:v>
                </c:pt>
                <c:pt idx="3">
                  <c:v>技术</c:v>
                </c:pt>
                <c:pt idx="4">
                  <c:v>竞争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3</c:v>
                </c:pt>
                <c:pt idx="4">
                  <c:v>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rgbClr val="0F2B46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"/>
        </c:scaling>
        <c:delete val="0"/>
        <c:axPos val="b"/>
        <c:majorGridlines>
          <c:spPr>
            <a:ln w="3810" cap="flat" cmpd="sng" algn="ctr">
              <a:solidFill>
                <a:srgbClr val="C4C9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8d88eb8b-dbb5-4327-94e7-0ff71c3134e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1A6B5A">
              <a:alpha val="70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822960" y="2148840"/>
            <a:ext cx="1463040" cy="36576"/>
          </a:xfrm>
          <a:prstGeom prst="rect">
            <a:avLst/>
          </a:prstGeom>
          <a:solidFill>
            <a:srgbClr val="C49B4A"/>
          </a:solidFill>
        </p:spPr>
      </p:sp>
      <p:sp>
        <p:nvSpPr>
          <p:cNvPr id="4" name="Text 2"/>
          <p:cNvSpPr/>
          <p:nvPr/>
        </p:nvSpPr>
        <p:spPr>
          <a:xfrm>
            <a:off x="822960" y="64008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DocQuiz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一键把文档变成在线练习系统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从 0 到 1 的新产品构想</a:t>
            </a:r>
            <a:r>
              <a:rPr lang="en-US" sz="1600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·  赛道 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5661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华东师范大学  ·  创造性思维与创新管理  ·  小组汇报</a:t>
            </a:r>
            <a:endParaRPr lang="en-US" sz="12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39776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团队</a:t>
            </a:r>
            <a:r>
              <a:rPr lang="en-US" sz="13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成员</a:t>
            </a:r>
            <a:r>
              <a:rPr lang="zh-CN" altLang="en-US" sz="1300" dirty="0">
                <a:solidFill>
                  <a:schemeClr val="bg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：</a:t>
            </a:r>
            <a:r>
              <a:rPr lang="en-US" sz="13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刘舟</a:t>
            </a:r>
            <a:r>
              <a:rPr lang="zh-CN" altLang="en-US" sz="1300" dirty="0">
                <a:solidFill>
                  <a:schemeClr val="bg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、赵凡、张磊、方嘉、戎志豪</a:t>
            </a:r>
            <a:endParaRPr lang="zh-CN" altLang="en-US" sz="1300" dirty="0">
              <a:solidFill>
                <a:schemeClr val="bg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22960" y="45262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在线体验：liuzhou1204.github.io/quiz/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团队介绍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五人各负责一个模块，覆盖从机会洞察到落地路线的完整产品规划链路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1572768" cy="356616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1572768" cy="54864"/>
          </a:xfrm>
          <a:prstGeom prst="rect">
            <a:avLst/>
          </a:prstGeom>
          <a:solidFill>
            <a:srgbClr val="2563A8"/>
          </a:solidFill>
        </p:spPr>
      </p:sp>
      <p:sp>
        <p:nvSpPr>
          <p:cNvPr id="6" name="Shape 4"/>
          <p:cNvSpPr/>
          <p:nvPr/>
        </p:nvSpPr>
        <p:spPr>
          <a:xfrm>
            <a:off x="603504" y="1417320"/>
            <a:ext cx="914400" cy="914400"/>
          </a:xfrm>
          <a:prstGeom prst="ellipse">
            <a:avLst/>
          </a:prstGeom>
          <a:solidFill>
            <a:srgbClr val="2563A8"/>
          </a:solidFill>
        </p:spPr>
      </p:sp>
      <p:sp>
        <p:nvSpPr>
          <p:cNvPr id="7" name="Text 5"/>
          <p:cNvSpPr/>
          <p:nvPr/>
        </p:nvSpPr>
        <p:spPr>
          <a:xfrm>
            <a:off x="603504" y="1417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成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74320" y="2468880"/>
            <a:ext cx="157276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成员 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74320" y="2761488"/>
            <a:ext cx="157276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563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用户研究员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108960"/>
            <a:ext cx="841248" cy="9144"/>
          </a:xfrm>
          <a:prstGeom prst="rect">
            <a:avLst/>
          </a:prstGeom>
          <a:solidFill>
            <a:srgbClr val="C4C9D0"/>
          </a:solidFill>
        </p:spPr>
      </p:sp>
      <p:sp>
        <p:nvSpPr>
          <p:cNvPr id="11" name="Text 9"/>
          <p:cNvSpPr/>
          <p:nvPr/>
        </p:nvSpPr>
        <p:spPr>
          <a:xfrm>
            <a:off x="274320" y="3246120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模块一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184" y="3566160"/>
            <a:ext cx="146304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机会洞察与问题定义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011680" y="1097280"/>
            <a:ext cx="1572768" cy="356616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11680" y="1097280"/>
            <a:ext cx="1572768" cy="54864"/>
          </a:xfrm>
          <a:prstGeom prst="rect">
            <a:avLst/>
          </a:prstGeom>
          <a:solidFill>
            <a:srgbClr val="1A6B5A"/>
          </a:solidFill>
        </p:spPr>
      </p:sp>
      <p:sp>
        <p:nvSpPr>
          <p:cNvPr id="15" name="Shape 13"/>
          <p:cNvSpPr/>
          <p:nvPr/>
        </p:nvSpPr>
        <p:spPr>
          <a:xfrm>
            <a:off x="2340864" y="1417320"/>
            <a:ext cx="914400" cy="914400"/>
          </a:xfrm>
          <a:prstGeom prst="ellipse">
            <a:avLst/>
          </a:prstGeom>
          <a:solidFill>
            <a:srgbClr val="1A6B5A"/>
          </a:solidFill>
        </p:spPr>
      </p:sp>
      <p:sp>
        <p:nvSpPr>
          <p:cNvPr id="16" name="Text 14"/>
          <p:cNvSpPr/>
          <p:nvPr/>
        </p:nvSpPr>
        <p:spPr>
          <a:xfrm>
            <a:off x="2340864" y="1417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成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011680" y="2468880"/>
            <a:ext cx="157276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成员 B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011680" y="2761488"/>
            <a:ext cx="157276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6B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产品架构师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377440" y="3108960"/>
            <a:ext cx="841248" cy="9144"/>
          </a:xfrm>
          <a:prstGeom prst="rect">
            <a:avLst/>
          </a:prstGeom>
          <a:solidFill>
            <a:srgbClr val="C4C9D0"/>
          </a:solidFill>
        </p:spPr>
      </p:sp>
      <p:sp>
        <p:nvSpPr>
          <p:cNvPr id="20" name="Text 18"/>
          <p:cNvSpPr/>
          <p:nvPr/>
        </p:nvSpPr>
        <p:spPr>
          <a:xfrm>
            <a:off x="2011680" y="3246120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模块二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066544" y="3566160"/>
            <a:ext cx="146304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创新方案的核心阐述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749040" y="1097280"/>
            <a:ext cx="1572768" cy="356616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749040" y="1097280"/>
            <a:ext cx="1572768" cy="54864"/>
          </a:xfrm>
          <a:prstGeom prst="rect">
            <a:avLst/>
          </a:prstGeom>
          <a:solidFill>
            <a:srgbClr val="B7791F"/>
          </a:solidFill>
        </p:spPr>
      </p:sp>
      <p:sp>
        <p:nvSpPr>
          <p:cNvPr id="24" name="Shape 22"/>
          <p:cNvSpPr/>
          <p:nvPr/>
        </p:nvSpPr>
        <p:spPr>
          <a:xfrm>
            <a:off x="4078224" y="1417320"/>
            <a:ext cx="914400" cy="914400"/>
          </a:xfrm>
          <a:prstGeom prst="ellipse">
            <a:avLst/>
          </a:prstGeom>
          <a:solidFill>
            <a:srgbClr val="B7791F"/>
          </a:solidFill>
        </p:spPr>
      </p:sp>
      <p:sp>
        <p:nvSpPr>
          <p:cNvPr id="25" name="Text 23"/>
          <p:cNvSpPr/>
          <p:nvPr/>
        </p:nvSpPr>
        <p:spPr>
          <a:xfrm>
            <a:off x="4078224" y="1417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成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3749040" y="2468880"/>
            <a:ext cx="157276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成员 C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749040" y="2761488"/>
            <a:ext cx="157276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7791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市场分析师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114800" y="3108960"/>
            <a:ext cx="841248" cy="9144"/>
          </a:xfrm>
          <a:prstGeom prst="rect">
            <a:avLst/>
          </a:prstGeom>
          <a:solidFill>
            <a:srgbClr val="C4C9D0"/>
          </a:solidFill>
        </p:spPr>
      </p:sp>
      <p:sp>
        <p:nvSpPr>
          <p:cNvPr id="29" name="Text 27"/>
          <p:cNvSpPr/>
          <p:nvPr/>
        </p:nvSpPr>
        <p:spPr>
          <a:xfrm>
            <a:off x="3749040" y="3246120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模块三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03904" y="3566160"/>
            <a:ext cx="146304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市场竞品与产品优势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0" y="1097280"/>
            <a:ext cx="1572768" cy="356616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86400" y="1097280"/>
            <a:ext cx="1572768" cy="54864"/>
          </a:xfrm>
          <a:prstGeom prst="rect">
            <a:avLst/>
          </a:prstGeom>
          <a:solidFill>
            <a:srgbClr val="6B46C8"/>
          </a:solidFill>
        </p:spPr>
      </p:sp>
      <p:sp>
        <p:nvSpPr>
          <p:cNvPr id="33" name="Shape 31"/>
          <p:cNvSpPr/>
          <p:nvPr/>
        </p:nvSpPr>
        <p:spPr>
          <a:xfrm>
            <a:off x="5815584" y="1417320"/>
            <a:ext cx="914400" cy="914400"/>
          </a:xfrm>
          <a:prstGeom prst="ellipse">
            <a:avLst/>
          </a:prstGeom>
          <a:solidFill>
            <a:srgbClr val="6B46C8"/>
          </a:solidFill>
        </p:spPr>
      </p:sp>
      <p:sp>
        <p:nvSpPr>
          <p:cNvPr id="34" name="Text 32"/>
          <p:cNvSpPr/>
          <p:nvPr/>
        </p:nvSpPr>
        <p:spPr>
          <a:xfrm>
            <a:off x="5815584" y="1417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成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5486400" y="2468880"/>
            <a:ext cx="157276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成员 D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486400" y="2761488"/>
            <a:ext cx="157276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46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商业策略师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852160" y="3108960"/>
            <a:ext cx="841248" cy="9144"/>
          </a:xfrm>
          <a:prstGeom prst="rect">
            <a:avLst/>
          </a:prstGeom>
          <a:solidFill>
            <a:srgbClr val="C4C9D0"/>
          </a:solidFill>
        </p:spPr>
      </p:sp>
      <p:sp>
        <p:nvSpPr>
          <p:cNvPr id="38" name="Text 36"/>
          <p:cNvSpPr/>
          <p:nvPr/>
        </p:nvSpPr>
        <p:spPr>
          <a:xfrm>
            <a:off x="5486400" y="3246120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模块四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541264" y="3566160"/>
            <a:ext cx="146304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商业模式可视化构建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23760" y="1097280"/>
            <a:ext cx="1572768" cy="3566160"/>
          </a:xfrm>
          <a:prstGeom prst="rect">
            <a:avLst/>
          </a:prstGeom>
          <a:solidFill>
            <a:srgbClr val="FBF5EB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223760" y="1097280"/>
            <a:ext cx="1572768" cy="54864"/>
          </a:xfrm>
          <a:prstGeom prst="rect">
            <a:avLst/>
          </a:prstGeom>
          <a:solidFill>
            <a:srgbClr val="C49B4A"/>
          </a:solidFill>
        </p:spPr>
      </p:sp>
      <p:sp>
        <p:nvSpPr>
          <p:cNvPr id="42" name="Shape 40"/>
          <p:cNvSpPr/>
          <p:nvPr/>
        </p:nvSpPr>
        <p:spPr>
          <a:xfrm>
            <a:off x="7552944" y="1417320"/>
            <a:ext cx="914400" cy="914400"/>
          </a:xfrm>
          <a:prstGeom prst="ellipse">
            <a:avLst/>
          </a:prstGeom>
          <a:solidFill>
            <a:srgbClr val="C49B4A"/>
          </a:solidFill>
        </p:spPr>
      </p:sp>
      <p:sp>
        <p:nvSpPr>
          <p:cNvPr id="43" name="Text 41"/>
          <p:cNvSpPr/>
          <p:nvPr/>
        </p:nvSpPr>
        <p:spPr>
          <a:xfrm>
            <a:off x="7552944" y="1417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刘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>
            <a:off x="7223760" y="2468880"/>
            <a:ext cx="157276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刘舟 NB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7223760" y="2761488"/>
            <a:ext cx="157276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组长 · 项目经理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589520" y="3108960"/>
            <a:ext cx="841248" cy="9144"/>
          </a:xfrm>
          <a:prstGeom prst="rect">
            <a:avLst/>
          </a:prstGeom>
          <a:solidFill>
            <a:srgbClr val="C4C9D0"/>
          </a:solidFill>
        </p:spPr>
      </p:sp>
      <p:sp>
        <p:nvSpPr>
          <p:cNvPr id="47" name="Text 45"/>
          <p:cNvSpPr/>
          <p:nvPr/>
        </p:nvSpPr>
        <p:spPr>
          <a:xfrm>
            <a:off x="7223760" y="3246120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模块五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278624" y="3566160"/>
            <a:ext cx="146304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路线图与可行性分析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223760" y="1097280"/>
            <a:ext cx="1572768" cy="3566160"/>
          </a:xfrm>
          <a:prstGeom prst="rect">
            <a:avLst/>
          </a:prstGeom>
          <a:noFill/>
          <a:ln w="19050">
            <a:solidFill>
              <a:srgbClr val="C49B4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010144" y="100584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组长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010144" y="1005840"/>
            <a:ext cx="731520" cy="228600"/>
          </a:xfrm>
          <a:prstGeom prst="rect">
            <a:avLst/>
          </a:prstGeom>
          <a:solidFill>
            <a:srgbClr val="C49B4A"/>
          </a:solidFill>
        </p:spPr>
      </p:sp>
      <p:sp>
        <p:nvSpPr>
          <p:cNvPr id="52" name="Text 50"/>
          <p:cNvSpPr/>
          <p:nvPr/>
        </p:nvSpPr>
        <p:spPr>
          <a:xfrm>
            <a:off x="8010144" y="100584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组长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solidFill>
            <a:srgbClr val="EBF2FA"/>
          </a:solidFill>
        </p:spPr>
      </p:sp>
      <p:sp>
        <p:nvSpPr>
          <p:cNvPr id="54" name="Text 52"/>
          <p:cNvSpPr/>
          <p:nvPr/>
        </p:nvSpPr>
        <p:spPr>
          <a:xfrm>
            <a:off x="640080" y="4800600"/>
            <a:ext cx="78638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563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覆盖用户洞察 — 创新设计 — 市场分析 — 商业模式 — 落地执行的完整创业链路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A8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2563A8"/>
          </a:solidFill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模块一  ·  成员 A 汇报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机会洞察与问题定义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2651760" cy="21945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011680"/>
            <a:ext cx="2651760" cy="36576"/>
          </a:xfrm>
          <a:prstGeom prst="rect">
            <a:avLst/>
          </a:prstGeom>
          <a:solidFill>
            <a:srgbClr val="2563A8"/>
          </a:solidFill>
        </p:spPr>
      </p:sp>
      <p:sp>
        <p:nvSpPr>
          <p:cNvPr id="8" name="Text 6"/>
          <p:cNvSpPr/>
          <p:nvPr/>
        </p:nvSpPr>
        <p:spPr>
          <a:xfrm>
            <a:off x="457200" y="2194560"/>
            <a:ext cx="26517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563A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3 类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核心目标用户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24612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企业培训  ·  高校教师  ·  备考社群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2011680"/>
            <a:ext cx="2651760" cy="21945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37560" y="2011680"/>
            <a:ext cx="2651760" cy="36576"/>
          </a:xfrm>
          <a:prstGeom prst="rect">
            <a:avLst/>
          </a:prstGeom>
          <a:solidFill>
            <a:srgbClr val="2563A8"/>
          </a:solidFill>
        </p:spPr>
      </p:sp>
      <p:sp>
        <p:nvSpPr>
          <p:cNvPr id="13" name="Text 11"/>
          <p:cNvSpPr/>
          <p:nvPr/>
        </p:nvSpPr>
        <p:spPr>
          <a:xfrm>
            <a:off x="3337560" y="2194560"/>
            <a:ext cx="26517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563A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15 人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337560" y="2880360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深度用户访谈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29000" y="324612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覆盖三类用户的真实声音与场景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011680"/>
            <a:ext cx="2651760" cy="21945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2011680"/>
            <a:ext cx="2651760" cy="36576"/>
          </a:xfrm>
          <a:prstGeom prst="rect">
            <a:avLst/>
          </a:prstGeom>
          <a:solidFill>
            <a:srgbClr val="2563A8"/>
          </a:solidFill>
        </p:spPr>
      </p:sp>
      <p:sp>
        <p:nvSpPr>
          <p:cNvPr id="18" name="Text 16"/>
          <p:cNvSpPr/>
          <p:nvPr/>
        </p:nvSpPr>
        <p:spPr>
          <a:xfrm>
            <a:off x="6217920" y="2194560"/>
            <a:ext cx="26517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563A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87 份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217920" y="2880360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问卷调研验证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09360" y="324612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确认"私有题库在线化"是普遍痛点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A8"/>
          </a:solidFill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共情洞察：三类核心目标用户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123444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941832"/>
            <a:ext cx="822960" cy="822960"/>
          </a:xfrm>
          <a:prstGeom prst="ellipse">
            <a:avLst/>
          </a:prstGeom>
          <a:solidFill>
            <a:srgbClr val="2563A8"/>
          </a:solidFill>
        </p:spPr>
      </p:sp>
      <p:sp>
        <p:nvSpPr>
          <p:cNvPr id="6" name="Text 4"/>
          <p:cNvSpPr/>
          <p:nvPr/>
        </p:nvSpPr>
        <p:spPr>
          <a:xfrm>
            <a:off x="685800" y="941832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企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8686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企业培训负责人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37360" y="118872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场景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331720" y="1188720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新员工入职考核 · 岗位安全培训 · 技能认证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37360" y="143560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5303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痛点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331720" y="1435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5303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手里有题库，要排 IT 3 周才能上线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737360" y="1682496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7C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需求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331720" y="1682496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7C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完全自主操作，不依赖内部技术资源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194560"/>
            <a:ext cx="8229600" cy="123444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2359152"/>
            <a:ext cx="822960" cy="822960"/>
          </a:xfrm>
          <a:prstGeom prst="ellipse">
            <a:avLst/>
          </a:prstGeom>
          <a:solidFill>
            <a:srgbClr val="1A6B5A"/>
          </a:solidFill>
        </p:spPr>
      </p:sp>
      <p:sp>
        <p:nvSpPr>
          <p:cNvPr id="16" name="Text 14"/>
          <p:cNvSpPr/>
          <p:nvPr/>
        </p:nvSpPr>
        <p:spPr>
          <a:xfrm>
            <a:off x="685800" y="2359152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教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737360" y="22860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高校教师 / 辅导员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37360" y="26060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场景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331720" y="2606040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期末复习题库 · 竞赛训练 · 随堂测验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737360" y="285292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5303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痛点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31720" y="285292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5303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只会 Word，问卷工具没有题库逻辑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737360" y="3099816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7C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需求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331720" y="3099816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7C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零技术门槛，10 分钟从 Word 到在线练习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611880"/>
            <a:ext cx="8229600" cy="123444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85800" y="3776472"/>
            <a:ext cx="822960" cy="822960"/>
          </a:xfrm>
          <a:prstGeom prst="ellipse">
            <a:avLst/>
          </a:prstGeom>
          <a:solidFill>
            <a:srgbClr val="B7791F"/>
          </a:solidFill>
        </p:spPr>
      </p:sp>
      <p:sp>
        <p:nvSpPr>
          <p:cNvPr id="26" name="Text 24"/>
          <p:cNvSpPr/>
          <p:nvPr/>
        </p:nvSpPr>
        <p:spPr>
          <a:xfrm>
            <a:off x="685800" y="3776472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社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737360" y="37033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备考社群运营者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737360" y="402336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场景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331720" y="4023360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考证社群刷题 · 学习打卡 · 模拟考试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737360" y="42702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5303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痛点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331720" y="427024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5303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大平台封闭，不接受私有题库上传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737360" y="4517136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7C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需求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331720" y="4517136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7C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免费或低价的私有题库在线工具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solidFill>
            <a:srgbClr val="EBF2FA"/>
          </a:solidFill>
        </p:spPr>
      </p:sp>
      <p:sp>
        <p:nvSpPr>
          <p:cNvPr id="35" name="Text 33"/>
          <p:cNvSpPr/>
          <p:nvPr/>
        </p:nvSpPr>
        <p:spPr>
          <a:xfrm>
            <a:off x="640080" y="4663440"/>
            <a:ext cx="78638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2563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研究方法：15 人深度访谈 + 87 份问卷调研  →  验证了"私有题库无法在线化"是跨用户类型的普遍痛点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1A6B5A">
              <a:alpha val="60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822960" y="2743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核心问题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777240"/>
            <a:ext cx="7498080" cy="228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如何让任何一个 </a:t>
            </a:r>
            <a:r>
              <a:rPr lang="en-US" sz="2600" b="1" dirty="0">
                <a:solidFill>
                  <a:srgbClr val="C49B4A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非技术用户</a:t>
            </a: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，在 </a:t>
            </a:r>
            <a:r>
              <a:rPr lang="en-US" sz="2600" b="1" dirty="0">
                <a:solidFill>
                  <a:srgbClr val="C49B4A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10 分钟</a:t>
            </a: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 内，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把一份 Word/PDF 文档，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变成一套可供他人在线练习的题库？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3749040"/>
            <a:ext cx="2651760" cy="1097280"/>
          </a:xfrm>
          <a:prstGeom prst="rect">
            <a:avLst/>
          </a:prstGeom>
          <a:solidFill>
            <a:srgbClr val="0F2B46"/>
          </a:solidFill>
          <a:ln w="6350">
            <a:solidFill>
              <a:srgbClr val="C49B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84048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大题库平台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4224528"/>
            <a:ext cx="250545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C9D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内容封闭 · 不可上传私有题库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3749040"/>
            <a:ext cx="2651760" cy="1097280"/>
          </a:xfrm>
          <a:prstGeom prst="rect">
            <a:avLst/>
          </a:prstGeom>
          <a:solidFill>
            <a:srgbClr val="0F2B46"/>
          </a:solidFill>
          <a:ln w="6350">
            <a:solidFill>
              <a:srgbClr val="C49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384048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通用问卷工具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10712" y="4224528"/>
            <a:ext cx="250545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C9D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没有题库逻辑 · 随机/错题本缺失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3749040"/>
            <a:ext cx="2651760" cy="1097280"/>
          </a:xfrm>
          <a:prstGeom prst="rect">
            <a:avLst/>
          </a:prstGeom>
          <a:solidFill>
            <a:srgbClr val="0F2B46"/>
          </a:solidFill>
          <a:ln w="6350">
            <a:solidFill>
              <a:srgbClr val="C49B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384048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自建开发系统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91072" y="4224528"/>
            <a:ext cx="250545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C9D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门槛高 · 周期长 · 费用贵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0" cy="5143500"/>
          </a:xfrm>
          <a:prstGeom prst="rect">
            <a:avLst/>
          </a:prstGeom>
          <a:solidFill>
            <a:srgbClr val="1A6B5A">
              <a:alpha val="65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640080" y="2743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产品愿景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DocQuiz 意味着什么？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36576" cy="320040"/>
          </a:xfrm>
          <a:prstGeom prst="rect">
            <a:avLst/>
          </a:prstGeom>
          <a:solidFill>
            <a:srgbClr val="C49B4A"/>
          </a:solidFill>
        </p:spPr>
      </p:sp>
      <p:sp>
        <p:nvSpPr>
          <p:cNvPr id="6" name="Text 4"/>
          <p:cNvSpPr/>
          <p:nvPr/>
        </p:nvSpPr>
        <p:spPr>
          <a:xfrm>
            <a:off x="822960" y="1463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49B4A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Doc </a:t>
            </a:r>
            <a:r>
              <a:rPr lang="en-US" sz="20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 = Document  文档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36576" cy="320040"/>
          </a:xfrm>
          <a:prstGeom prst="rect">
            <a:avLst/>
          </a:prstGeom>
          <a:solidFill>
            <a:srgbClr val="C49B4A"/>
          </a:solidFill>
        </p:spPr>
      </p:sp>
      <p:sp>
        <p:nvSpPr>
          <p:cNvPr id="8" name="Text 6"/>
          <p:cNvSpPr/>
          <p:nvPr/>
        </p:nvSpPr>
        <p:spPr>
          <a:xfrm>
            <a:off x="822960" y="19202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49B4A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Quiz </a:t>
            </a:r>
            <a:r>
              <a:rPr lang="en-US" sz="20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 = 测验 / 题库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7280" cy="27432"/>
          </a:xfrm>
          <a:prstGeom prst="rect">
            <a:avLst/>
          </a:prstGeom>
          <a:solidFill>
            <a:srgbClr val="C49B4A"/>
          </a:solidFill>
        </p:spPr>
      </p:sp>
      <p:sp>
        <p:nvSpPr>
          <p:cNvPr id="10" name="Text 8"/>
          <p:cNvSpPr/>
          <p:nvPr/>
        </p:nvSpPr>
        <p:spPr>
          <a:xfrm>
            <a:off x="640080" y="269748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4C9D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"文档变题库"  —  让任何文档，在几分钟内变成可在线练习的题库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371600" y="3383280"/>
            <a:ext cx="640080" cy="640080"/>
          </a:xfrm>
          <a:prstGeom prst="ellipse">
            <a:avLst/>
          </a:prstGeom>
          <a:solidFill>
            <a:srgbClr val="2D9B82"/>
          </a:solidFill>
        </p:spPr>
      </p:sp>
      <p:sp>
        <p:nvSpPr>
          <p:cNvPr id="12" name="Text 10"/>
          <p:cNvSpPr/>
          <p:nvPr/>
        </p:nvSpPr>
        <p:spPr>
          <a:xfrm>
            <a:off x="1371600" y="33832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简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D9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极简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43484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4C9D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拖拽上传，零技术门槛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4C9D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不需要开发者，不需要服务器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51960" y="3383280"/>
            <a:ext cx="640080" cy="640080"/>
          </a:xfrm>
          <a:prstGeom prst="ellipse">
            <a:avLst/>
          </a:prstGeom>
          <a:solidFill>
            <a:srgbClr val="C49B4A"/>
          </a:solidFill>
        </p:spPr>
      </p:sp>
      <p:sp>
        <p:nvSpPr>
          <p:cNvPr id="16" name="Text 14"/>
          <p:cNvSpPr/>
          <p:nvPr/>
        </p:nvSpPr>
        <p:spPr>
          <a:xfrm>
            <a:off x="4251960" y="33832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私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337560" y="4160520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私有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443484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4C9D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题库 100% 归你所有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4C9D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不依赖任何封闭平台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132320" y="3383280"/>
            <a:ext cx="640080" cy="640080"/>
          </a:xfrm>
          <a:prstGeom prst="ellipse">
            <a:avLst/>
          </a:prstGeom>
          <a:solidFill>
            <a:srgbClr val="2563A8"/>
          </a:solidFill>
        </p:spPr>
      </p:sp>
      <p:sp>
        <p:nvSpPr>
          <p:cNvPr id="20" name="Text 18"/>
          <p:cNvSpPr/>
          <p:nvPr/>
        </p:nvSpPr>
        <p:spPr>
          <a:xfrm>
            <a:off x="7132320" y="33832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智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217920" y="4160520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智能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09360" y="443484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4C9D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 自动识别题目格式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4C9D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准确率持续迭代提升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A6B5A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1A6B5A"/>
          </a:solidFill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模块二  ·  成员 B 汇报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创新方案的核心阐述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651760" cy="21031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20240"/>
            <a:ext cx="2651760" cy="36576"/>
          </a:xfrm>
          <a:prstGeom prst="rect">
            <a:avLst/>
          </a:prstGeom>
          <a:solidFill>
            <a:srgbClr val="1A6B5A"/>
          </a:solidFill>
        </p:spPr>
      </p:sp>
      <p:sp>
        <p:nvSpPr>
          <p:cNvPr id="8" name="Shape 6"/>
          <p:cNvSpPr/>
          <p:nvPr/>
        </p:nvSpPr>
        <p:spPr>
          <a:xfrm>
            <a:off x="1371600" y="2103120"/>
            <a:ext cx="640080" cy="640080"/>
          </a:xfrm>
          <a:prstGeom prst="ellipse">
            <a:avLst/>
          </a:prstGeom>
          <a:solidFill>
            <a:srgbClr val="1A6B5A"/>
          </a:solidFill>
        </p:spPr>
      </p:sp>
      <p:sp>
        <p:nvSpPr>
          <p:cNvPr id="9" name="Text 7"/>
          <p:cNvSpPr/>
          <p:nvPr/>
        </p:nvSpPr>
        <p:spPr>
          <a:xfrm>
            <a:off x="1371600" y="21031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V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2926080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6B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价值主张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246120"/>
            <a:ext cx="24688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上传 Word/PDF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 分钟拥有你自己的在线题库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37560" y="1920240"/>
            <a:ext cx="2651760" cy="21031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37560" y="1920240"/>
            <a:ext cx="2651760" cy="36576"/>
          </a:xfrm>
          <a:prstGeom prst="rect">
            <a:avLst/>
          </a:prstGeom>
          <a:solidFill>
            <a:srgbClr val="2D9B82"/>
          </a:solidFill>
        </p:spPr>
      </p:sp>
      <p:sp>
        <p:nvSpPr>
          <p:cNvPr id="14" name="Shape 12"/>
          <p:cNvSpPr/>
          <p:nvPr/>
        </p:nvSpPr>
        <p:spPr>
          <a:xfrm>
            <a:off x="4251960" y="2103120"/>
            <a:ext cx="640080" cy="640080"/>
          </a:xfrm>
          <a:prstGeom prst="ellipse">
            <a:avLst/>
          </a:prstGeom>
          <a:solidFill>
            <a:srgbClr val="2D9B82"/>
          </a:solidFill>
        </p:spPr>
      </p:sp>
      <p:sp>
        <p:nvSpPr>
          <p:cNvPr id="15" name="Text 13"/>
          <p:cNvSpPr/>
          <p:nvPr/>
        </p:nvSpPr>
        <p:spPr>
          <a:xfrm>
            <a:off x="4251960" y="21031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337560" y="2926080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9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创新类型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29000" y="3246120"/>
            <a:ext cx="24688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低端颠覆式创新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从被忽视的"够用就行"用户切入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1920240"/>
            <a:ext cx="2651760" cy="21031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1920240"/>
            <a:ext cx="2651760" cy="36576"/>
          </a:xfrm>
          <a:prstGeom prst="rect">
            <a:avLst/>
          </a:prstGeom>
          <a:solidFill>
            <a:srgbClr val="C49B4A"/>
          </a:solidFill>
        </p:spPr>
      </p:sp>
      <p:sp>
        <p:nvSpPr>
          <p:cNvPr id="20" name="Shape 18"/>
          <p:cNvSpPr/>
          <p:nvPr/>
        </p:nvSpPr>
        <p:spPr>
          <a:xfrm>
            <a:off x="7132320" y="2103120"/>
            <a:ext cx="640080" cy="640080"/>
          </a:xfrm>
          <a:prstGeom prst="ellipse">
            <a:avLst/>
          </a:prstGeom>
          <a:solidFill>
            <a:srgbClr val="C49B4A"/>
          </a:solidFill>
        </p:spPr>
      </p:sp>
      <p:sp>
        <p:nvSpPr>
          <p:cNvPr id="21" name="Text 19"/>
          <p:cNvSpPr/>
          <p:nvPr/>
        </p:nvSpPr>
        <p:spPr>
          <a:xfrm>
            <a:off x="7132320" y="21031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217920" y="2926080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核心壁垒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3246120"/>
            <a:ext cx="24688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 解析引擎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唯一的"文档→题库"自动化方案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A6B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创新论证核心：AI 解决"内容格式转换"最大阻力 — 技术上不难，但产品上从未有人专门做好。这就是窗口。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A6B5A"/>
          </a:solidFill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DocQuiz 三步核心流程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2651760" cy="237744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34440" y="960120"/>
            <a:ext cx="1005840" cy="1005840"/>
          </a:xfrm>
          <a:prstGeom prst="ellipse">
            <a:avLst/>
          </a:prstGeom>
          <a:solidFill>
            <a:srgbClr val="2563A8"/>
          </a:solidFill>
        </p:spPr>
      </p:sp>
      <p:sp>
        <p:nvSpPr>
          <p:cNvPr id="6" name="Text 4"/>
          <p:cNvSpPr/>
          <p:nvPr/>
        </p:nvSpPr>
        <p:spPr>
          <a:xfrm>
            <a:off x="1234440" y="96012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214884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上传文档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拖拽上传 Word / PDF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支持批量导入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自动识别格式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28016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6B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337560" y="777240"/>
            <a:ext cx="2651760" cy="237744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0" y="960120"/>
            <a:ext cx="1005840" cy="1005840"/>
          </a:xfrm>
          <a:prstGeom prst="ellipse">
            <a:avLst/>
          </a:prstGeom>
          <a:solidFill>
            <a:srgbClr val="1A6B5A"/>
          </a:solidFill>
        </p:spPr>
      </p:sp>
      <p:sp>
        <p:nvSpPr>
          <p:cNvPr id="12" name="Text 10"/>
          <p:cNvSpPr/>
          <p:nvPr/>
        </p:nvSpPr>
        <p:spPr>
          <a:xfrm>
            <a:off x="4114800" y="96012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337560" y="214884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 自动解析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429000" y="251460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识别题目类型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提取选项 + 正确答案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兼容多种排版格式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89320" y="128016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6B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217920" y="777240"/>
            <a:ext cx="2651760" cy="237744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995160" y="960120"/>
            <a:ext cx="1005840" cy="1005840"/>
          </a:xfrm>
          <a:prstGeom prst="ellipse">
            <a:avLst/>
          </a:prstGeom>
          <a:solidFill>
            <a:srgbClr val="C49B4A"/>
          </a:solidFill>
        </p:spPr>
      </p:sp>
      <p:sp>
        <p:nvSpPr>
          <p:cNvPr id="18" name="Text 16"/>
          <p:cNvSpPr/>
          <p:nvPr/>
        </p:nvSpPr>
        <p:spPr>
          <a:xfrm>
            <a:off x="6995160" y="96012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217920" y="214884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一键发布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309360" y="251460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生成在线练习页面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随机出题 + 答题统计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获得分享链接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8229600" cy="1417320"/>
          </a:xfrm>
          <a:prstGeom prst="rect">
            <a:avLst/>
          </a:prstGeom>
          <a:solidFill>
            <a:srgbClr val="E6F2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" y="35204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MVP 已实现  —  在线验证：liuzhou1204.github.io/quiz/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38404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docx_to_json.py — Word/PDF 自动解析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63440" y="3931920"/>
            <a:ext cx="38404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Vue 3 练习页面 — 多题库切换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4279392"/>
            <a:ext cx="38404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GitHub Pages 部署 — 零服务器成本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63440" y="4279392"/>
            <a:ext cx="38404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项目管理大赛实际使用验证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A6B5A"/>
          </a:solidFill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DocQuiz 使用流程  —  从文档到题库只需 5 步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打开网页即可完成全部操作，无需安装任何软件，无需任何技术背景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" y="914400"/>
            <a:ext cx="1572768" cy="169164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914400"/>
            <a:ext cx="1572768" cy="36576"/>
          </a:xfrm>
          <a:prstGeom prst="rect">
            <a:avLst/>
          </a:prstGeom>
          <a:solidFill>
            <a:srgbClr val="2563A8"/>
          </a:solidFill>
        </p:spPr>
      </p:sp>
      <p:sp>
        <p:nvSpPr>
          <p:cNvPr id="7" name="Shape 5"/>
          <p:cNvSpPr/>
          <p:nvPr/>
        </p:nvSpPr>
        <p:spPr>
          <a:xfrm>
            <a:off x="603504" y="1051560"/>
            <a:ext cx="640080" cy="640080"/>
          </a:xfrm>
          <a:prstGeom prst="ellipse">
            <a:avLst/>
          </a:prstGeom>
          <a:solidFill>
            <a:srgbClr val="2563A8"/>
          </a:solidFill>
        </p:spPr>
      </p:sp>
      <p:sp>
        <p:nvSpPr>
          <p:cNvPr id="8" name="Text 6"/>
          <p:cNvSpPr/>
          <p:nvPr/>
        </p:nvSpPr>
        <p:spPr>
          <a:xfrm>
            <a:off x="603504" y="105156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2880" y="1783080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丢入文档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37744" y="208483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拖拽或点击上传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Word / PDF 文件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755648" y="118872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6B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&gt;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938528" y="914400"/>
            <a:ext cx="1572768" cy="169164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938528" y="914400"/>
            <a:ext cx="1572768" cy="36576"/>
          </a:xfrm>
          <a:prstGeom prst="rect">
            <a:avLst/>
          </a:prstGeom>
          <a:solidFill>
            <a:srgbClr val="1A6B5A"/>
          </a:solidFill>
        </p:spPr>
      </p:sp>
      <p:sp>
        <p:nvSpPr>
          <p:cNvPr id="14" name="Shape 12"/>
          <p:cNvSpPr/>
          <p:nvPr/>
        </p:nvSpPr>
        <p:spPr>
          <a:xfrm>
            <a:off x="2359152" y="1051560"/>
            <a:ext cx="640080" cy="640080"/>
          </a:xfrm>
          <a:prstGeom prst="ellipse">
            <a:avLst/>
          </a:prstGeom>
          <a:solidFill>
            <a:srgbClr val="1A6B5A"/>
          </a:solidFill>
        </p:spPr>
      </p:sp>
      <p:sp>
        <p:nvSpPr>
          <p:cNvPr id="15" name="Text 13"/>
          <p:cNvSpPr/>
          <p:nvPr/>
        </p:nvSpPr>
        <p:spPr>
          <a:xfrm>
            <a:off x="2359152" y="105156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938528" y="1783080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 解析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993392" y="208483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自动识别题目格式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提取题干+选项+答案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511296" y="118872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6B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&gt;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3694176" y="914400"/>
            <a:ext cx="1572768" cy="169164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94176" y="914400"/>
            <a:ext cx="1572768" cy="36576"/>
          </a:xfrm>
          <a:prstGeom prst="rect">
            <a:avLst/>
          </a:prstGeom>
          <a:solidFill>
            <a:srgbClr val="2D9B82"/>
          </a:solidFill>
        </p:spPr>
      </p:sp>
      <p:sp>
        <p:nvSpPr>
          <p:cNvPr id="21" name="Shape 19"/>
          <p:cNvSpPr/>
          <p:nvPr/>
        </p:nvSpPr>
        <p:spPr>
          <a:xfrm>
            <a:off x="4114800" y="1051560"/>
            <a:ext cx="640080" cy="640080"/>
          </a:xfrm>
          <a:prstGeom prst="ellipse">
            <a:avLst/>
          </a:prstGeom>
          <a:solidFill>
            <a:srgbClr val="2D9B82"/>
          </a:solidFill>
        </p:spPr>
      </p:sp>
      <p:sp>
        <p:nvSpPr>
          <p:cNvPr id="22" name="Text 20"/>
          <p:cNvSpPr/>
          <p:nvPr/>
        </p:nvSpPr>
        <p:spPr>
          <a:xfrm>
            <a:off x="4114800" y="105156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694176" y="1783080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预览微调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749040" y="208483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逐题预览确认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支持手动修正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266944" y="118872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6B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&gt;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449824" y="914400"/>
            <a:ext cx="1572768" cy="169164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449824" y="914400"/>
            <a:ext cx="1572768" cy="36576"/>
          </a:xfrm>
          <a:prstGeom prst="rect">
            <a:avLst/>
          </a:prstGeom>
          <a:solidFill>
            <a:srgbClr val="B7791F"/>
          </a:solidFill>
        </p:spPr>
      </p:sp>
      <p:sp>
        <p:nvSpPr>
          <p:cNvPr id="28" name="Shape 26"/>
          <p:cNvSpPr/>
          <p:nvPr/>
        </p:nvSpPr>
        <p:spPr>
          <a:xfrm>
            <a:off x="5870448" y="1051560"/>
            <a:ext cx="640080" cy="640080"/>
          </a:xfrm>
          <a:prstGeom prst="ellipse">
            <a:avLst/>
          </a:prstGeom>
          <a:solidFill>
            <a:srgbClr val="B7791F"/>
          </a:solidFill>
        </p:spPr>
      </p:sp>
      <p:sp>
        <p:nvSpPr>
          <p:cNvPr id="29" name="Text 27"/>
          <p:cNvSpPr/>
          <p:nvPr/>
        </p:nvSpPr>
        <p:spPr>
          <a:xfrm>
            <a:off x="5870448" y="105156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449824" y="1783080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一键上线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08483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保存到个人题库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即刻生成练习页面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22592" y="118872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6B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&gt;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7205472" y="914400"/>
            <a:ext cx="1572768" cy="169164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205472" y="914400"/>
            <a:ext cx="1572768" cy="36576"/>
          </a:xfrm>
          <a:prstGeom prst="rect">
            <a:avLst/>
          </a:prstGeom>
          <a:solidFill>
            <a:srgbClr val="6B46C8"/>
          </a:solidFill>
        </p:spPr>
      </p:sp>
      <p:sp>
        <p:nvSpPr>
          <p:cNvPr id="35" name="Shape 33"/>
          <p:cNvSpPr/>
          <p:nvPr/>
        </p:nvSpPr>
        <p:spPr>
          <a:xfrm>
            <a:off x="7626096" y="1051560"/>
            <a:ext cx="640080" cy="640080"/>
          </a:xfrm>
          <a:prstGeom prst="ellipse">
            <a:avLst/>
          </a:prstGeom>
          <a:solidFill>
            <a:srgbClr val="6B46C8"/>
          </a:solidFill>
        </p:spPr>
      </p:sp>
      <p:sp>
        <p:nvSpPr>
          <p:cNvPr id="36" name="Text 34"/>
          <p:cNvSpPr/>
          <p:nvPr/>
        </p:nvSpPr>
        <p:spPr>
          <a:xfrm>
            <a:off x="7626096" y="105156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5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205472" y="1783080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刷题分享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260336" y="208483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随机出题 + 答题统计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链接一键分享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2926080"/>
            <a:ext cx="8595360" cy="18288"/>
          </a:xfrm>
          <a:prstGeom prst="rect">
            <a:avLst/>
          </a:prstGeom>
          <a:solidFill>
            <a:srgbClr val="C4C9D0"/>
          </a:solidFill>
        </p:spPr>
      </p:sp>
      <p:sp>
        <p:nvSpPr>
          <p:cNvPr id="40" name="Shape 38"/>
          <p:cNvSpPr/>
          <p:nvPr/>
        </p:nvSpPr>
        <p:spPr>
          <a:xfrm>
            <a:off x="274320" y="3108960"/>
            <a:ext cx="4114800" cy="1645920"/>
          </a:xfrm>
          <a:prstGeom prst="rect">
            <a:avLst/>
          </a:prstGeom>
          <a:solidFill>
            <a:srgbClr val="FDF0F0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" y="31546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5303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改造前（开发者操作）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57200" y="3429000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打开终端 → 运行 python docx_to_json.py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57200" y="3749040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手动编辑 manifest.json 注册题库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4069080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npm run build 重新构建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4389120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重新部署到 GitHub Pages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754880" y="3108960"/>
            <a:ext cx="4114800" cy="1645920"/>
          </a:xfrm>
          <a:prstGeom prst="rect">
            <a:avLst/>
          </a:prstGeom>
          <a:solidFill>
            <a:srgbClr val="E6F4EC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937760" y="31546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C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改造后（任何人可用）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937760" y="3429000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打开 DocQuiz 网页 → 拖入文档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937760" y="3749040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系统自动解析 + 预览确认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937760" y="4069080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点击保存，题库即刻上线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937760" y="4389120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获得分享链接，立即可用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937760" y="46177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全程 2 分钟，零代码，零部署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A6B5A"/>
          </a:solidFill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颠覆性创新矩阵  ·  六维度对比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克里斯滕森 Low-end Disruption 理论应用 — 从被忽视的底部市场切入，逐步向上蚕食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274320" y="914400"/>
          <a:ext cx="8595360" cy="269748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566160"/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创新维度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大题库平台（猿题库 / 粉笔）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DocQuiz 创新方案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B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6B5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目标客户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个人备考者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6B5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培训负责人 · 教师 · 社群运营者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6B5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性能指标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题量大、功能全但复杂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6B5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10 分钟上手，零技术门槛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6B5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成本结构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会员订阅制，年费数百元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6B5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开源免费 / 低价订阅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6B5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内容开放度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5303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封闭平台，不可上传私有题库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D7C51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100% 私有题库，用户完全自主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6B5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分发方式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应用商店 / 广告投放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6B5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开源口碑 · 社群裂变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6B5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用户控制权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平台控制内容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6B5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用户完全自主控制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794760"/>
            <a:ext cx="8595360" cy="1097280"/>
          </a:xfrm>
          <a:prstGeom prst="rect">
            <a:avLst/>
          </a:prstGeom>
          <a:solidFill>
            <a:srgbClr val="E6F2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384048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颠覆性逻辑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1605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5303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大平台"过度服务"（功能堆叠、价格高、内容封闭）</a:t>
            </a:r>
            <a:r>
              <a:rPr lang="en-US" sz="11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→  我们从底部切入：那些"够用就行、自己控制内容、不想花钱"的用户  →  极简体验 + 极低成本  →  逐步向上蚕食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5143500"/>
          </a:xfrm>
          <a:prstGeom prst="rect">
            <a:avLst/>
          </a:prstGeom>
          <a:solidFill>
            <a:srgbClr val="1A6B5A">
              <a:alpha val="65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640080" y="274320"/>
            <a:ext cx="82296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为什么具有颠覆性？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685800" cy="685800"/>
          </a:xfrm>
          <a:prstGeom prst="ellipse">
            <a:avLst/>
          </a:prstGeom>
          <a:solidFill>
            <a:srgbClr val="C49B4A"/>
          </a:solidFill>
        </p:spPr>
      </p:sp>
      <p:sp>
        <p:nvSpPr>
          <p:cNvPr id="5" name="Text 3"/>
          <p:cNvSpPr/>
          <p:nvPr/>
        </p:nvSpPr>
        <p:spPr>
          <a:xfrm>
            <a:off x="640080" y="114300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1051560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唯一的自动化方案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1435608"/>
            <a:ext cx="7132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4C9D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全市场扫描：没有任何竞品提供"上传 Word/PDF → 自动生成在线题库"能力。我们是第一且唯一的方案，享受先行者优势。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685800" cy="685800"/>
          </a:xfrm>
          <a:prstGeom prst="ellipse">
            <a:avLst/>
          </a:prstGeom>
          <a:solidFill>
            <a:srgbClr val="C49B4A"/>
          </a:solidFill>
        </p:spPr>
      </p:sp>
      <p:sp>
        <p:nvSpPr>
          <p:cNvPr id="9" name="Text 7"/>
          <p:cNvSpPr/>
          <p:nvPr/>
        </p:nvSpPr>
        <p:spPr>
          <a:xfrm>
            <a:off x="640080" y="24231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331720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大厂不会做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2715768"/>
            <a:ext cx="7132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4C9D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大题库平台与封闭内容模式冲突（他们卖的就是题库）；问卷工具不在核心路径（他们卖的是表单）→ 形成结构性机会窗口。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703320"/>
            <a:ext cx="685800" cy="685800"/>
          </a:xfrm>
          <a:prstGeom prst="ellipse">
            <a:avLst/>
          </a:prstGeom>
          <a:solidFill>
            <a:srgbClr val="C49B4A"/>
          </a:solidFill>
        </p:spPr>
      </p:sp>
      <p:sp>
        <p:nvSpPr>
          <p:cNvPr id="13" name="Text 11"/>
          <p:cNvSpPr/>
          <p:nvPr/>
        </p:nvSpPr>
        <p:spPr>
          <a:xfrm>
            <a:off x="640080" y="370332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3611880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 降维打击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3995928"/>
            <a:ext cx="7132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4C9D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过去解析 Word 题库需人工逐题录入，现在 AI 自动完成。技术不新，但产品化是首次。壁垒随时间积累越来越厚。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572000"/>
            <a:ext cx="36576" cy="274320"/>
          </a:xfrm>
          <a:prstGeom prst="rect">
            <a:avLst/>
          </a:prstGeom>
          <a:solidFill>
            <a:srgbClr val="C49B4A"/>
          </a:solidFill>
        </p:spPr>
      </p:sp>
      <p:sp>
        <p:nvSpPr>
          <p:cNvPr id="17" name="Text 15"/>
          <p:cNvSpPr/>
          <p:nvPr/>
        </p:nvSpPr>
        <p:spPr>
          <a:xfrm>
            <a:off x="822960" y="457200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机会窗口：技术和市场条件已成熟，但产品化空白 — 这就是从 0 到 1 的最佳时机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B7791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B7791F"/>
          </a:solidFill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模块三  ·  成员 C 汇报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市场竞品分析与产品优势对比</a:t>
            </a:r>
            <a:endParaRPr lang="en-US" sz="3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B7791F"/>
          </a:solidFill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市场四象限全景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77640" cy="155448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3977640" cy="45720"/>
          </a:xfrm>
          <a:prstGeom prst="rect">
            <a:avLst/>
          </a:prstGeom>
          <a:solidFill>
            <a:srgbClr val="C53030"/>
          </a:solidFill>
        </p:spPr>
      </p:sp>
      <p:sp>
        <p:nvSpPr>
          <p:cNvPr id="6" name="Text 4"/>
          <p:cNvSpPr/>
          <p:nvPr/>
        </p:nvSpPr>
        <p:spPr>
          <a:xfrm>
            <a:off x="548640" y="1234440"/>
            <a:ext cx="37947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专业题库平台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3794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猿题库 · 粉笔 · 准题库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148840"/>
            <a:ext cx="3794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5303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内容封闭 · 品牌成熟 · 功能全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09160" y="1051560"/>
            <a:ext cx="3977640" cy="155448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051560"/>
            <a:ext cx="3977640" cy="45720"/>
          </a:xfrm>
          <a:prstGeom prst="rect">
            <a:avLst/>
          </a:prstGeom>
          <a:solidFill>
            <a:srgbClr val="B7791F"/>
          </a:solidFill>
        </p:spPr>
      </p:sp>
      <p:sp>
        <p:nvSpPr>
          <p:cNvPr id="11" name="Text 9"/>
          <p:cNvSpPr/>
          <p:nvPr/>
        </p:nvSpPr>
        <p:spPr>
          <a:xfrm>
            <a:off x="4800600" y="1234440"/>
            <a:ext cx="37947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LMS 学习管理系统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00600" y="1691640"/>
            <a:ext cx="3794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Moodle · 云课堂 · 腾讯课堂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2148840"/>
            <a:ext cx="3794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7791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功能强大 · 部署复杂 · 成本高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3977640" cy="155448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834640"/>
            <a:ext cx="3977640" cy="45720"/>
          </a:xfrm>
          <a:prstGeom prst="rect">
            <a:avLst/>
          </a:prstGeom>
          <a:solidFill>
            <a:srgbClr val="6B7280"/>
          </a:solidFill>
        </p:spPr>
      </p:sp>
      <p:sp>
        <p:nvSpPr>
          <p:cNvPr id="16" name="Text 14"/>
          <p:cNvSpPr/>
          <p:nvPr/>
        </p:nvSpPr>
        <p:spPr>
          <a:xfrm>
            <a:off x="548640" y="3017520"/>
            <a:ext cx="37947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通用问卷工具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3474720"/>
            <a:ext cx="3794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腾讯问卷 · 金数据 · 问卷星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3931920"/>
            <a:ext cx="3794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通用性强 · 无题库逻辑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2834640"/>
            <a:ext cx="3977640" cy="1554480"/>
          </a:xfrm>
          <a:prstGeom prst="rect">
            <a:avLst/>
          </a:prstGeom>
          <a:solidFill>
            <a:srgbClr val="E6F4EC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2834640"/>
            <a:ext cx="3977640" cy="45720"/>
          </a:xfrm>
          <a:prstGeom prst="rect">
            <a:avLst/>
          </a:prstGeom>
          <a:solidFill>
            <a:srgbClr val="0D7C51"/>
          </a:solidFill>
        </p:spPr>
      </p:sp>
      <p:sp>
        <p:nvSpPr>
          <p:cNvPr id="21" name="Text 19"/>
          <p:cNvSpPr/>
          <p:nvPr/>
        </p:nvSpPr>
        <p:spPr>
          <a:xfrm>
            <a:off x="4800600" y="3017520"/>
            <a:ext cx="37947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★ DocQuiz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800600" y="3474720"/>
            <a:ext cx="3794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文档 → 题库  全自动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3931920"/>
            <a:ext cx="3794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D7C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私有题库 · 零门槛 · AI解析 · 链接分享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高  ←  内容开放度  →  低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B7791F"/>
          </a:solidFill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竞品逐项对比  —  11 项指标</a:t>
            </a:r>
            <a:endParaRPr lang="en-US" sz="2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182880" y="548640"/>
          <a:ext cx="8778240" cy="3621024"/>
        </p:xfrm>
        <a:graphic>
          <a:graphicData uri="http://schemas.openxmlformats.org/drawingml/2006/table">
            <a:tbl>
              <a:tblPr/>
              <a:tblGrid>
                <a:gridCol w="1737360"/>
                <a:gridCol w="1645920"/>
                <a:gridCol w="1645920"/>
                <a:gridCol w="1645920"/>
                <a:gridCol w="2103120"/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对比维度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猿题库/粉笔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腾讯问卷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Moodle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DocQuiz（我们）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B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上传私有题库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5303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NO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仅表单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YES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D7C51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YES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Word自动解析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5303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NO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5303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NO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5303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NO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D7C51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核心创新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随机出题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YES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NO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YES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D7C51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YES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错题本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YES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NO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YES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7791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规划中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答题统计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YES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基础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YES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D7C51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YES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零技术门槛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部分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YES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需搭建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D7C51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YES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免费使用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部分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基础版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YES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D7C51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YES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分享便捷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同平台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链接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复杂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D7C51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链接即分享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内容归属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5303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平台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用户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用户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D7C51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用户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目标用户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个人备考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通用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大型机构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A6B5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培训/教师/社群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82880" y="4663440"/>
            <a:ext cx="8778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竞品中唯一覆盖"文档 → 题库"自动化全链路的方案。核心竞争力不在于功能最多，而在于解决了别人没解决的问题。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B7791F"/>
          </a:solidFill>
        </p:spPr>
      </p:sp>
      <p:sp>
        <p:nvSpPr>
          <p:cNvPr id="3" name="Text 1"/>
          <p:cNvSpPr/>
          <p:nvPr/>
        </p:nvSpPr>
        <p:spPr>
          <a:xfrm>
            <a:off x="457200" y="73152"/>
            <a:ext cx="84124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SWOT 分析  &amp;  四大差异化优势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548640"/>
            <a:ext cx="3840480" cy="178308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548640"/>
            <a:ext cx="3840480" cy="36576"/>
          </a:xfrm>
          <a:prstGeom prst="rect">
            <a:avLst/>
          </a:prstGeom>
          <a:solidFill>
            <a:srgbClr val="0D7C51"/>
          </a:solidFill>
        </p:spPr>
      </p:sp>
      <p:sp>
        <p:nvSpPr>
          <p:cNvPr id="6" name="Text 4"/>
          <p:cNvSpPr/>
          <p:nvPr/>
        </p:nvSpPr>
        <p:spPr>
          <a:xfrm>
            <a:off x="384048" y="64008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C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 优势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4048" y="960120"/>
            <a:ext cx="356616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独特的文档解析技术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零门槛使用体验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内容 100% 归属用户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开源 + 低成本运营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9120" y="548640"/>
            <a:ext cx="3840480" cy="178308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89120" y="548640"/>
            <a:ext cx="3840480" cy="36576"/>
          </a:xfrm>
          <a:prstGeom prst="rect">
            <a:avLst/>
          </a:prstGeom>
          <a:solidFill>
            <a:srgbClr val="C53030"/>
          </a:solidFill>
        </p:spPr>
      </p:sp>
      <p:sp>
        <p:nvSpPr>
          <p:cNvPr id="10" name="Text 8"/>
          <p:cNvSpPr/>
          <p:nvPr/>
        </p:nvSpPr>
        <p:spPr>
          <a:xfrm>
            <a:off x="4498848" y="64008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5303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 劣势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98848" y="960120"/>
            <a:ext cx="356616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品牌认知度为零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题库依赖用户上传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MVP 无用户系统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盈利模式尚未验证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514600"/>
            <a:ext cx="3840480" cy="178308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514600"/>
            <a:ext cx="3840480" cy="36576"/>
          </a:xfrm>
          <a:prstGeom prst="rect">
            <a:avLst/>
          </a:prstGeom>
          <a:solidFill>
            <a:srgbClr val="2563A8"/>
          </a:solidFill>
        </p:spPr>
      </p:sp>
      <p:sp>
        <p:nvSpPr>
          <p:cNvPr id="14" name="Text 12"/>
          <p:cNvSpPr/>
          <p:nvPr/>
        </p:nvSpPr>
        <p:spPr>
          <a:xfrm>
            <a:off x="384048" y="260604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机会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4048" y="2926080"/>
            <a:ext cx="356616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企业培训数字化加速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 持续降低开发成本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非技术用户需求被忽视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开源社区放大影响力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89120" y="2514600"/>
            <a:ext cx="3840480" cy="178308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9120" y="2514600"/>
            <a:ext cx="3840480" cy="36576"/>
          </a:xfrm>
          <a:prstGeom prst="rect">
            <a:avLst/>
          </a:prstGeom>
          <a:solidFill>
            <a:srgbClr val="B7791F"/>
          </a:solidFill>
        </p:spPr>
      </p:sp>
      <p:sp>
        <p:nvSpPr>
          <p:cNvPr id="18" name="Text 16"/>
          <p:cNvSpPr/>
          <p:nvPr/>
        </p:nvSpPr>
        <p:spPr>
          <a:xfrm>
            <a:off x="4498848" y="260604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791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威胁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98848" y="2926080"/>
            <a:ext cx="356616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大平台可能跟进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市场竞争持续加剧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用户付费习惯待培养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纯技术壁垒不够高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60120" y="4434840"/>
            <a:ext cx="548640" cy="548640"/>
          </a:xfrm>
          <a:prstGeom prst="ellipse">
            <a:avLst/>
          </a:prstGeom>
          <a:solidFill>
            <a:srgbClr val="0D7C51"/>
          </a:solidFill>
        </p:spPr>
      </p:sp>
      <p:sp>
        <p:nvSpPr>
          <p:cNvPr id="21" name="Text 19"/>
          <p:cNvSpPr/>
          <p:nvPr/>
        </p:nvSpPr>
        <p:spPr>
          <a:xfrm>
            <a:off x="960120" y="443484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72768" y="446227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唯一方案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572768" y="47365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全市场唯一的文档→题库自动化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154680" y="4434840"/>
            <a:ext cx="548640" cy="548640"/>
          </a:xfrm>
          <a:prstGeom prst="ellipse">
            <a:avLst/>
          </a:prstGeom>
          <a:solidFill>
            <a:srgbClr val="2563A8"/>
          </a:solidFill>
        </p:spPr>
      </p:sp>
      <p:sp>
        <p:nvSpPr>
          <p:cNvPr id="25" name="Text 23"/>
          <p:cNvSpPr/>
          <p:nvPr/>
        </p:nvSpPr>
        <p:spPr>
          <a:xfrm>
            <a:off x="3154680" y="443484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767328" y="446227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内容主权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67328" y="47365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 私有题库 · 用户完全可控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349240" y="4434840"/>
            <a:ext cx="548640" cy="548640"/>
          </a:xfrm>
          <a:prstGeom prst="ellipse">
            <a:avLst/>
          </a:prstGeom>
          <a:solidFill>
            <a:srgbClr val="1A6B5A"/>
          </a:solidFill>
        </p:spPr>
      </p:sp>
      <p:sp>
        <p:nvSpPr>
          <p:cNvPr id="29" name="Text 27"/>
          <p:cNvSpPr/>
          <p:nvPr/>
        </p:nvSpPr>
        <p:spPr>
          <a:xfrm>
            <a:off x="5349240" y="443484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961888" y="446227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极致门槛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961888" y="47365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 分钟从 0 到在线 · 无需编码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543800" y="4434840"/>
            <a:ext cx="548640" cy="548640"/>
          </a:xfrm>
          <a:prstGeom prst="ellipse">
            <a:avLst/>
          </a:prstGeom>
          <a:solidFill>
            <a:srgbClr val="B7791F"/>
          </a:solidFill>
        </p:spPr>
      </p:sp>
      <p:sp>
        <p:nvSpPr>
          <p:cNvPr id="33" name="Text 31"/>
          <p:cNvSpPr/>
          <p:nvPr/>
        </p:nvSpPr>
        <p:spPr>
          <a:xfrm>
            <a:off x="7543800" y="443484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156448" y="446227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蓝海人群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156448" y="47365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面向"出题者" · 而非刷题者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6B46C8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6B46C8"/>
          </a:solidFill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模块四  ·  成员 D 汇报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商业模式的可视化构建</a:t>
            </a:r>
            <a:endParaRPr lang="en-US" sz="3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6B46C8"/>
          </a:solidFill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商业模式画布  ·  九宫格全景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548640"/>
            <a:ext cx="2697480" cy="132588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548640"/>
            <a:ext cx="2697480" cy="36576"/>
          </a:xfrm>
          <a:prstGeom prst="rect">
            <a:avLst/>
          </a:prstGeom>
          <a:solidFill>
            <a:srgbClr val="2563A8"/>
          </a:solidFill>
        </p:spPr>
      </p:sp>
      <p:sp>
        <p:nvSpPr>
          <p:cNvPr id="6" name="Text 4"/>
          <p:cNvSpPr/>
          <p:nvPr/>
        </p:nvSpPr>
        <p:spPr>
          <a:xfrm>
            <a:off x="365760" y="621792"/>
            <a:ext cx="2514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客户细分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896112"/>
            <a:ext cx="251460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B端：企业培训部 · 培训机构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C端：备考社群运营者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长尾：高校教师 · 辅导员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548640"/>
            <a:ext cx="2697480" cy="132588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548640"/>
            <a:ext cx="2697480" cy="36576"/>
          </a:xfrm>
          <a:prstGeom prst="rect">
            <a:avLst/>
          </a:prstGeom>
          <a:solidFill>
            <a:srgbClr val="6B46C8"/>
          </a:solidFill>
        </p:spPr>
      </p:sp>
      <p:sp>
        <p:nvSpPr>
          <p:cNvPr id="10" name="Text 8"/>
          <p:cNvSpPr/>
          <p:nvPr/>
        </p:nvSpPr>
        <p:spPr>
          <a:xfrm>
            <a:off x="3291840" y="621792"/>
            <a:ext cx="2514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46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价值主张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91840" y="896112"/>
            <a:ext cx="251460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"上传文档，10 分钟拥有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你自己的在线题库"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极简 · 私有 · 零门槛 · AI驱动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548640"/>
            <a:ext cx="2697480" cy="132588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548640"/>
            <a:ext cx="2697480" cy="36576"/>
          </a:xfrm>
          <a:prstGeom prst="rect">
            <a:avLst/>
          </a:prstGeom>
          <a:solidFill>
            <a:srgbClr val="2563A8"/>
          </a:solidFill>
        </p:spPr>
      </p:sp>
      <p:sp>
        <p:nvSpPr>
          <p:cNvPr id="14" name="Text 12"/>
          <p:cNvSpPr/>
          <p:nvPr/>
        </p:nvSpPr>
        <p:spPr>
          <a:xfrm>
            <a:off x="6217920" y="621792"/>
            <a:ext cx="2514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渠道通路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17920" y="896112"/>
            <a:ext cx="251460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开源社区 (GitHub)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技术社区 (掘金/知乎)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微信社群裂变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057400"/>
            <a:ext cx="2697480" cy="132588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057400"/>
            <a:ext cx="2697480" cy="36576"/>
          </a:xfrm>
          <a:prstGeom prst="rect">
            <a:avLst/>
          </a:prstGeom>
          <a:solidFill>
            <a:srgbClr val="6B46C8"/>
          </a:solidFill>
        </p:spPr>
      </p:sp>
      <p:sp>
        <p:nvSpPr>
          <p:cNvPr id="18" name="Text 16"/>
          <p:cNvSpPr/>
          <p:nvPr/>
        </p:nvSpPr>
        <p:spPr>
          <a:xfrm>
            <a:off x="365760" y="2130552"/>
            <a:ext cx="2514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46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客户关系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2404872"/>
            <a:ext cx="251460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C端：自助服务 + 社区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B端：客户成功经理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专属支持 + SLA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0" y="2057400"/>
            <a:ext cx="2697480" cy="132588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0" y="2057400"/>
            <a:ext cx="2697480" cy="36576"/>
          </a:xfrm>
          <a:prstGeom prst="rect">
            <a:avLst/>
          </a:prstGeom>
          <a:solidFill>
            <a:srgbClr val="C49B4A"/>
          </a:solidFill>
        </p:spPr>
      </p:sp>
      <p:sp>
        <p:nvSpPr>
          <p:cNvPr id="22" name="Text 20"/>
          <p:cNvSpPr/>
          <p:nvPr/>
        </p:nvSpPr>
        <p:spPr>
          <a:xfrm>
            <a:off x="3291840" y="2130552"/>
            <a:ext cx="2514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收入来源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91840" y="2404872"/>
            <a:ext cx="251460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个人免费  ·  ¥0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团队版  ·  ¥99/月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企业版  ·  ¥599/月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26480" y="2057400"/>
            <a:ext cx="2697480" cy="132588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2057400"/>
            <a:ext cx="2697480" cy="36576"/>
          </a:xfrm>
          <a:prstGeom prst="rect">
            <a:avLst/>
          </a:prstGeom>
          <a:solidFill>
            <a:srgbClr val="2563A8"/>
          </a:solidFill>
        </p:spPr>
      </p:sp>
      <p:sp>
        <p:nvSpPr>
          <p:cNvPr id="26" name="Text 24"/>
          <p:cNvSpPr/>
          <p:nvPr/>
        </p:nvSpPr>
        <p:spPr>
          <a:xfrm>
            <a:off x="6217920" y="2130552"/>
            <a:ext cx="2514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核心资源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2404872"/>
            <a:ext cx="251460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 解析引擎（技术壁垒）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题库格式知识库（行业壁垒）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开发者社区（生态壁垒）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3566160"/>
            <a:ext cx="2697480" cy="132588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74320" y="3566160"/>
            <a:ext cx="2697480" cy="36576"/>
          </a:xfrm>
          <a:prstGeom prst="rect">
            <a:avLst/>
          </a:prstGeom>
          <a:solidFill>
            <a:srgbClr val="6B46C8"/>
          </a:solidFill>
        </p:spPr>
      </p:sp>
      <p:sp>
        <p:nvSpPr>
          <p:cNvPr id="30" name="Text 28"/>
          <p:cNvSpPr/>
          <p:nvPr/>
        </p:nvSpPr>
        <p:spPr>
          <a:xfrm>
            <a:off x="365760" y="3639312"/>
            <a:ext cx="2514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46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关键活动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65760" y="3913632"/>
            <a:ext cx="251460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解析引擎迭代 · 兼容更多格式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内容运营 · 案例库建设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B端渠道拓展 · 合作伙伴开发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200400" y="3566160"/>
            <a:ext cx="2697480" cy="132588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200400" y="3566160"/>
            <a:ext cx="2697480" cy="36576"/>
          </a:xfrm>
          <a:prstGeom prst="rect">
            <a:avLst/>
          </a:prstGeom>
          <a:solidFill>
            <a:srgbClr val="2563A8"/>
          </a:solidFill>
        </p:spPr>
      </p:sp>
      <p:sp>
        <p:nvSpPr>
          <p:cNvPr id="34" name="Text 32"/>
          <p:cNvSpPr/>
          <p:nvPr/>
        </p:nvSpPr>
        <p:spPr>
          <a:xfrm>
            <a:off x="3291840" y="3639312"/>
            <a:ext cx="2514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重要合作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291840" y="3913632"/>
            <a:ext cx="251460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培训机构（内容合作 + 渠道）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高校（批量采购 + 联合推广）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技术社区（开源生态共建）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26480" y="3566160"/>
            <a:ext cx="2697480" cy="132588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126480" y="3566160"/>
            <a:ext cx="2697480" cy="36576"/>
          </a:xfrm>
          <a:prstGeom prst="rect">
            <a:avLst/>
          </a:prstGeom>
          <a:solidFill>
            <a:srgbClr val="6B7280"/>
          </a:solidFill>
        </p:spPr>
      </p:sp>
      <p:sp>
        <p:nvSpPr>
          <p:cNvPr id="38" name="Text 36"/>
          <p:cNvSpPr/>
          <p:nvPr/>
        </p:nvSpPr>
        <p:spPr>
          <a:xfrm>
            <a:off x="6217920" y="3639312"/>
            <a:ext cx="2514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成本结构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17920" y="3913632"/>
            <a:ext cx="251460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轻量服务器（初期免费）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5人团队开发人力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数字营销（社群 + SEO）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6B46C8"/>
          </a:solidFill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Freemium 定价  &amp;  盈利路径预测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2651760" cy="22860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731520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免费版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051560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B7280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¥0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22960" y="1828800"/>
            <a:ext cx="1737360" cy="9144"/>
          </a:xfrm>
          <a:prstGeom prst="rect">
            <a:avLst/>
          </a:prstGeom>
          <a:solidFill>
            <a:srgbClr val="C4C9D0"/>
          </a:solidFill>
        </p:spPr>
      </p:sp>
      <p:sp>
        <p:nvSpPr>
          <p:cNvPr id="8" name="Text 6"/>
          <p:cNvSpPr/>
          <p:nvPr/>
        </p:nvSpPr>
        <p:spPr>
          <a:xfrm>
            <a:off x="457200" y="1920240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 题  ·  3 个题库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基础答题统计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开源社区支持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640080"/>
            <a:ext cx="2651760" cy="228600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640080"/>
            <a:ext cx="2651760" cy="54864"/>
          </a:xfrm>
          <a:prstGeom prst="rect">
            <a:avLst/>
          </a:prstGeom>
          <a:solidFill>
            <a:srgbClr val="C49B4A"/>
          </a:solidFill>
        </p:spPr>
      </p:sp>
      <p:sp>
        <p:nvSpPr>
          <p:cNvPr id="11" name="Text 9"/>
          <p:cNvSpPr/>
          <p:nvPr/>
        </p:nvSpPr>
        <p:spPr>
          <a:xfrm>
            <a:off x="3246120" y="731520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团队版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46120" y="1051560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B46C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¥99/月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023360" y="1481328"/>
            <a:ext cx="1097280" cy="228600"/>
          </a:xfrm>
          <a:prstGeom prst="rect">
            <a:avLst/>
          </a:prstGeom>
          <a:solidFill>
            <a:srgbClr val="6B46C8"/>
          </a:solidFill>
        </p:spPr>
      </p:sp>
      <p:sp>
        <p:nvSpPr>
          <p:cNvPr id="14" name="Text 12"/>
          <p:cNvSpPr/>
          <p:nvPr/>
        </p:nvSpPr>
        <p:spPr>
          <a:xfrm>
            <a:off x="4023360" y="1481328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推荐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03320" y="1828800"/>
            <a:ext cx="1737360" cy="9144"/>
          </a:xfrm>
          <a:prstGeom prst="rect">
            <a:avLst/>
          </a:prstGeom>
          <a:solidFill>
            <a:srgbClr val="C4C9D0"/>
          </a:solidFill>
        </p:spPr>
      </p:sp>
      <p:sp>
        <p:nvSpPr>
          <p:cNvPr id="16" name="Text 14"/>
          <p:cNvSpPr/>
          <p:nvPr/>
        </p:nvSpPr>
        <p:spPr>
          <a:xfrm>
            <a:off x="3337560" y="1920240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不限题目  ·  10 个题库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详细统计  ·  团队协作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50人团队 · 优先支持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640080"/>
            <a:ext cx="2651760" cy="22860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26480" y="731520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企业版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26480" y="1051560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49B4A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¥599/月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583680" y="1828800"/>
            <a:ext cx="1737360" cy="9144"/>
          </a:xfrm>
          <a:prstGeom prst="rect">
            <a:avLst/>
          </a:prstGeom>
          <a:solidFill>
            <a:srgbClr val="C4C9D0"/>
          </a:solidFill>
        </p:spPr>
      </p:sp>
      <p:sp>
        <p:nvSpPr>
          <p:cNvPr id="21" name="Text 19"/>
          <p:cNvSpPr/>
          <p:nvPr/>
        </p:nvSpPr>
        <p:spPr>
          <a:xfrm>
            <a:off x="6217920" y="1920240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全部功能  ·  SSO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私有部署  ·  API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数据导出  ·  专属经理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3200400"/>
            <a:ext cx="8412480" cy="18288"/>
          </a:xfrm>
          <a:prstGeom prst="rect">
            <a:avLst/>
          </a:prstGeom>
          <a:solidFill>
            <a:srgbClr val="C4C9D0"/>
          </a:solidFill>
        </p:spPr>
      </p:sp>
      <p:sp>
        <p:nvSpPr>
          <p:cNvPr id="23" name="Text 21"/>
          <p:cNvSpPr/>
          <p:nvPr/>
        </p:nvSpPr>
        <p:spPr>
          <a:xfrm>
            <a:off x="457200" y="3273552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46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 个月 ARR 增长路径</a:t>
            </a:r>
            <a:endParaRPr lang="en-US" sz="1100" dirty="0"/>
          </a:p>
        </p:txBody>
      </p:sp>
      <p:graphicFrame>
        <p:nvGraphicFramePr>
          <p:cNvPr id="24" name="Chart 0"/>
          <p:cNvGraphicFramePr/>
          <p:nvPr/>
        </p:nvGraphicFramePr>
        <p:xfrm>
          <a:off x="274320" y="3566160"/>
          <a:ext cx="438912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5" name="Text 22"/>
          <p:cNvSpPr/>
          <p:nvPr/>
        </p:nvSpPr>
        <p:spPr>
          <a:xfrm>
            <a:off x="4937760" y="3611880"/>
            <a:ext cx="38404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月 0-3：GitHub 200+ Star  ·  100 活跃用户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937760" y="3959352"/>
            <a:ext cx="38404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月 4-6：SaaS 上线  ·  50 付费用户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937760" y="4306824"/>
            <a:ext cx="38404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月 7-9：签约 3-5 家企业  ·  10 万 ARR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937760" y="4654296"/>
            <a:ext cx="38404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  月 10-12：合作 5+ 机构  ·  50 万 ARR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49B4A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C49B4A"/>
          </a:solidFill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模块五  ·  刘舟（NB）汇报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行动路线图与可行性分析</a:t>
            </a:r>
            <a:endParaRPr lang="en-US" sz="3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49B4A"/>
          </a:solidFill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四阶段实施路线图  ·  12 个月从 0 到 50 万 ARR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685800"/>
            <a:ext cx="7680960" cy="18288"/>
          </a:xfrm>
          <a:prstGeom prst="rect">
            <a:avLst/>
          </a:prstGeom>
          <a:solidFill>
            <a:srgbClr val="1A6B5A"/>
          </a:solidFill>
        </p:spPr>
      </p:sp>
      <p:sp>
        <p:nvSpPr>
          <p:cNvPr id="5" name="Shape 3"/>
          <p:cNvSpPr/>
          <p:nvPr/>
        </p:nvSpPr>
        <p:spPr>
          <a:xfrm>
            <a:off x="1051560" y="566928"/>
            <a:ext cx="256032" cy="256032"/>
          </a:xfrm>
          <a:prstGeom prst="ellipse">
            <a:avLst/>
          </a:prstGeom>
          <a:solidFill>
            <a:srgbClr val="0D7C51"/>
          </a:solidFill>
        </p:spPr>
      </p:sp>
      <p:sp>
        <p:nvSpPr>
          <p:cNvPr id="6" name="Text 4"/>
          <p:cNvSpPr/>
          <p:nvPr/>
        </p:nvSpPr>
        <p:spPr>
          <a:xfrm>
            <a:off x="1051560" y="566928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2011680" cy="393192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05840"/>
            <a:ext cx="2011680" cy="45720"/>
          </a:xfrm>
          <a:prstGeom prst="rect">
            <a:avLst/>
          </a:prstGeom>
          <a:solidFill>
            <a:srgbClr val="0D7C51"/>
          </a:solidFill>
        </p:spPr>
      </p:sp>
      <p:sp>
        <p:nvSpPr>
          <p:cNvPr id="9" name="Text 7"/>
          <p:cNvSpPr/>
          <p:nvPr/>
        </p:nvSpPr>
        <p:spPr>
          <a:xfrm>
            <a:off x="274320" y="111556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7C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验证期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" y="1444752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现在  ~  第 2 月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737360"/>
            <a:ext cx="1280160" cy="9144"/>
          </a:xfrm>
          <a:prstGeom prst="rect">
            <a:avLst/>
          </a:prstGeom>
          <a:solidFill>
            <a:srgbClr val="C4C9D0"/>
          </a:solidFill>
        </p:spPr>
      </p:sp>
      <p:sp>
        <p:nvSpPr>
          <p:cNvPr id="12" name="Text 10"/>
          <p:cNvSpPr/>
          <p:nvPr/>
        </p:nvSpPr>
        <p:spPr>
          <a:xfrm>
            <a:off x="347472" y="1874520"/>
            <a:ext cx="18653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收集 100 个真实用户反馈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472" y="2258568"/>
            <a:ext cx="18653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解析准确率 ≥ 90%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472" y="2642616"/>
            <a:ext cx="18653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GitHub 200+ Star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47472" y="3026664"/>
            <a:ext cx="18653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技术文章推广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4480560"/>
            <a:ext cx="1463040" cy="228600"/>
          </a:xfrm>
          <a:prstGeom prst="rect">
            <a:avLst/>
          </a:prstGeom>
          <a:solidFill>
            <a:srgbClr val="0D7C51">
              <a:alpha val="15000"/>
            </a:srgbClr>
          </a:solidFill>
        </p:spPr>
      </p:sp>
      <p:sp>
        <p:nvSpPr>
          <p:cNvPr id="17" name="Text 15"/>
          <p:cNvSpPr/>
          <p:nvPr/>
        </p:nvSpPr>
        <p:spPr>
          <a:xfrm>
            <a:off x="548640" y="448056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C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团队：5人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46120" y="566928"/>
            <a:ext cx="256032" cy="256032"/>
          </a:xfrm>
          <a:prstGeom prst="ellipse">
            <a:avLst/>
          </a:prstGeom>
          <a:solidFill>
            <a:srgbClr val="1A6B5A"/>
          </a:solidFill>
        </p:spPr>
      </p:sp>
      <p:sp>
        <p:nvSpPr>
          <p:cNvPr id="19" name="Text 17"/>
          <p:cNvSpPr/>
          <p:nvPr/>
        </p:nvSpPr>
        <p:spPr>
          <a:xfrm>
            <a:off x="3246120" y="566928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468880" y="1005840"/>
            <a:ext cx="2011680" cy="393192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468880" y="1005840"/>
            <a:ext cx="2011680" cy="45720"/>
          </a:xfrm>
          <a:prstGeom prst="rect">
            <a:avLst/>
          </a:prstGeom>
          <a:solidFill>
            <a:srgbClr val="1A6B5A"/>
          </a:solidFill>
        </p:spPr>
      </p:sp>
      <p:sp>
        <p:nvSpPr>
          <p:cNvPr id="22" name="Text 20"/>
          <p:cNvSpPr/>
          <p:nvPr/>
        </p:nvSpPr>
        <p:spPr>
          <a:xfrm>
            <a:off x="2468880" y="111556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6B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产品期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468880" y="1444752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第 3 ~ 5 月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834640" y="1737360"/>
            <a:ext cx="1280160" cy="9144"/>
          </a:xfrm>
          <a:prstGeom prst="rect">
            <a:avLst/>
          </a:prstGeom>
          <a:solidFill>
            <a:srgbClr val="C4C9D0"/>
          </a:solidFill>
        </p:spPr>
      </p:sp>
      <p:sp>
        <p:nvSpPr>
          <p:cNvPr id="25" name="Text 23"/>
          <p:cNvSpPr/>
          <p:nvPr/>
        </p:nvSpPr>
        <p:spPr>
          <a:xfrm>
            <a:off x="2542032" y="1874520"/>
            <a:ext cx="18653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用户系统 · 管理后台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542032" y="2258568"/>
            <a:ext cx="18653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错题本 · 收藏功能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42032" y="2642616"/>
            <a:ext cx="18653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支付集成 · 团队版上线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542032" y="3026664"/>
            <a:ext cx="18653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SaaS 化部署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0" y="4480560"/>
            <a:ext cx="1463040" cy="228600"/>
          </a:xfrm>
          <a:prstGeom prst="rect">
            <a:avLst/>
          </a:prstGeom>
          <a:solidFill>
            <a:srgbClr val="1A6B5A">
              <a:alpha val="15000"/>
            </a:srgbClr>
          </a:solidFill>
        </p:spPr>
      </p:sp>
      <p:sp>
        <p:nvSpPr>
          <p:cNvPr id="30" name="Text 28"/>
          <p:cNvSpPr/>
          <p:nvPr/>
        </p:nvSpPr>
        <p:spPr>
          <a:xfrm>
            <a:off x="2743200" y="448056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6B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团队：5人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40680" y="566928"/>
            <a:ext cx="256032" cy="256032"/>
          </a:xfrm>
          <a:prstGeom prst="ellipse">
            <a:avLst/>
          </a:prstGeom>
          <a:solidFill>
            <a:srgbClr val="C49B4A"/>
          </a:solidFill>
        </p:spPr>
      </p:sp>
      <p:sp>
        <p:nvSpPr>
          <p:cNvPr id="32" name="Text 30"/>
          <p:cNvSpPr/>
          <p:nvPr/>
        </p:nvSpPr>
        <p:spPr>
          <a:xfrm>
            <a:off x="5440680" y="566928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63440" y="1005840"/>
            <a:ext cx="2011680" cy="393192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1005840"/>
            <a:ext cx="2011680" cy="45720"/>
          </a:xfrm>
          <a:prstGeom prst="rect">
            <a:avLst/>
          </a:prstGeom>
          <a:solidFill>
            <a:srgbClr val="C49B4A"/>
          </a:solidFill>
        </p:spPr>
      </p:sp>
      <p:sp>
        <p:nvSpPr>
          <p:cNvPr id="35" name="Text 33"/>
          <p:cNvSpPr/>
          <p:nvPr/>
        </p:nvSpPr>
        <p:spPr>
          <a:xfrm>
            <a:off x="4663440" y="111556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商业期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4663440" y="1444752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第 6 ~ 9 月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029200" y="1737360"/>
            <a:ext cx="1280160" cy="9144"/>
          </a:xfrm>
          <a:prstGeom prst="rect">
            <a:avLst/>
          </a:prstGeom>
          <a:solidFill>
            <a:srgbClr val="C4C9D0"/>
          </a:solidFill>
        </p:spPr>
      </p:sp>
      <p:sp>
        <p:nvSpPr>
          <p:cNvPr id="38" name="Text 36"/>
          <p:cNvSpPr/>
          <p:nvPr/>
        </p:nvSpPr>
        <p:spPr>
          <a:xfrm>
            <a:off x="4736592" y="1874520"/>
            <a:ext cx="18653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签约 3-5 家培训/企业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736592" y="2258568"/>
            <a:ext cx="18653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2-3 所高校试点合作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736592" y="2642616"/>
            <a:ext cx="18653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API 接口 · 私有部署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736592" y="3026664"/>
            <a:ext cx="18653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扩展至 8 人团队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937760" y="4480560"/>
            <a:ext cx="1463040" cy="228600"/>
          </a:xfrm>
          <a:prstGeom prst="rect">
            <a:avLst/>
          </a:prstGeom>
          <a:solidFill>
            <a:srgbClr val="C49B4A">
              <a:alpha val="15000"/>
            </a:srgbClr>
          </a:solidFill>
        </p:spPr>
      </p:sp>
      <p:sp>
        <p:nvSpPr>
          <p:cNvPr id="43" name="Text 41"/>
          <p:cNvSpPr/>
          <p:nvPr/>
        </p:nvSpPr>
        <p:spPr>
          <a:xfrm>
            <a:off x="4937760" y="448056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团队：5+3人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635240" y="566928"/>
            <a:ext cx="256032" cy="256032"/>
          </a:xfrm>
          <a:prstGeom prst="ellipse">
            <a:avLst/>
          </a:prstGeom>
          <a:solidFill>
            <a:srgbClr val="6B46C8"/>
          </a:solidFill>
        </p:spPr>
      </p:sp>
      <p:sp>
        <p:nvSpPr>
          <p:cNvPr id="45" name="Text 43"/>
          <p:cNvSpPr/>
          <p:nvPr/>
        </p:nvSpPr>
        <p:spPr>
          <a:xfrm>
            <a:off x="7635240" y="566928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4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58000" y="1005840"/>
            <a:ext cx="2011680" cy="393192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858000" y="1005840"/>
            <a:ext cx="2011680" cy="45720"/>
          </a:xfrm>
          <a:prstGeom prst="rect">
            <a:avLst/>
          </a:prstGeom>
          <a:solidFill>
            <a:srgbClr val="6B46C8"/>
          </a:solidFill>
        </p:spPr>
      </p:sp>
      <p:sp>
        <p:nvSpPr>
          <p:cNvPr id="48" name="Text 46"/>
          <p:cNvSpPr/>
          <p:nvPr/>
        </p:nvSpPr>
        <p:spPr>
          <a:xfrm>
            <a:off x="6858000" y="111556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B46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扩张期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6858000" y="1444752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第 10 ~ 12 月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223760" y="1737360"/>
            <a:ext cx="1280160" cy="9144"/>
          </a:xfrm>
          <a:prstGeom prst="rect">
            <a:avLst/>
          </a:prstGeom>
          <a:solidFill>
            <a:srgbClr val="C4C9D0"/>
          </a:solidFill>
        </p:spPr>
      </p:sp>
      <p:sp>
        <p:nvSpPr>
          <p:cNvPr id="51" name="Text 49"/>
          <p:cNvSpPr/>
          <p:nvPr/>
        </p:nvSpPr>
        <p:spPr>
          <a:xfrm>
            <a:off x="6931152" y="1874520"/>
            <a:ext cx="18653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机构 5+ · ARR ¥50万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931152" y="2258568"/>
            <a:ext cx="18653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英文版国际化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6931152" y="2642616"/>
            <a:ext cx="18653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微信小程序版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931152" y="3026664"/>
            <a:ext cx="18653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AI 智能题库推荐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132320" y="4480560"/>
            <a:ext cx="1463040" cy="228600"/>
          </a:xfrm>
          <a:prstGeom prst="rect">
            <a:avLst/>
          </a:prstGeom>
          <a:solidFill>
            <a:srgbClr val="6B46C8">
              <a:alpha val="15000"/>
            </a:srgbClr>
          </a:solidFill>
        </p:spPr>
      </p:sp>
      <p:sp>
        <p:nvSpPr>
          <p:cNvPr id="56" name="Text 54"/>
          <p:cNvSpPr/>
          <p:nvPr/>
        </p:nvSpPr>
        <p:spPr>
          <a:xfrm>
            <a:off x="7132320" y="448056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46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团队：8-10人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49B4A"/>
          </a:solidFill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风险评估  &amp;  可行性结论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风险等级评估（1-5）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182880" y="731520"/>
          <a:ext cx="4114800" cy="1645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846320" y="50292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综合可行性评估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4880" y="731520"/>
            <a:ext cx="4023360" cy="402336"/>
          </a:xfrm>
          <a:prstGeom prst="rect">
            <a:avLst/>
          </a:prstGeom>
          <a:solidFill>
            <a:srgbClr val="F7F4EF"/>
          </a:solidFill>
        </p:spPr>
      </p:sp>
      <p:sp>
        <p:nvSpPr>
          <p:cNvPr id="8" name="Shape 5"/>
          <p:cNvSpPr/>
          <p:nvPr/>
        </p:nvSpPr>
        <p:spPr>
          <a:xfrm>
            <a:off x="4754880" y="731520"/>
            <a:ext cx="36576" cy="402336"/>
          </a:xfrm>
          <a:prstGeom prst="rect">
            <a:avLst/>
          </a:prstGeom>
          <a:solidFill>
            <a:srgbClr val="0D7C51"/>
          </a:solidFill>
        </p:spPr>
      </p:sp>
      <p:sp>
        <p:nvSpPr>
          <p:cNvPr id="9" name="Text 6"/>
          <p:cNvSpPr/>
          <p:nvPr/>
        </p:nvSpPr>
        <p:spPr>
          <a:xfrm>
            <a:off x="4937760" y="777240"/>
            <a:ext cx="16459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技术可行性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675120" y="777240"/>
            <a:ext cx="6400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7C5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高  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406640" y="786384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MVP 已验证核心技术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4880" y="1207008"/>
            <a:ext cx="4023360" cy="402336"/>
          </a:xfrm>
          <a:prstGeom prst="rect">
            <a:avLst/>
          </a:prstGeom>
          <a:solidFill>
            <a:srgbClr val="F7F4EF"/>
          </a:solidFill>
        </p:spPr>
      </p:sp>
      <p:sp>
        <p:nvSpPr>
          <p:cNvPr id="13" name="Shape 10"/>
          <p:cNvSpPr/>
          <p:nvPr/>
        </p:nvSpPr>
        <p:spPr>
          <a:xfrm>
            <a:off x="4754880" y="1207008"/>
            <a:ext cx="36576" cy="402336"/>
          </a:xfrm>
          <a:prstGeom prst="rect">
            <a:avLst/>
          </a:prstGeom>
          <a:solidFill>
            <a:srgbClr val="1A6B5A"/>
          </a:solidFill>
        </p:spPr>
      </p:sp>
      <p:sp>
        <p:nvSpPr>
          <p:cNvPr id="14" name="Text 11"/>
          <p:cNvSpPr/>
          <p:nvPr/>
        </p:nvSpPr>
        <p:spPr>
          <a:xfrm>
            <a:off x="4937760" y="1252728"/>
            <a:ext cx="16459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市场可行性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675120" y="1252728"/>
            <a:ext cx="6400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6B5A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中高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406640" y="1261872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需验证付费转化率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754880" y="1682496"/>
            <a:ext cx="4023360" cy="402336"/>
          </a:xfrm>
          <a:prstGeom prst="rect">
            <a:avLst/>
          </a:prstGeom>
          <a:solidFill>
            <a:srgbClr val="F7F4EF"/>
          </a:solidFill>
        </p:spPr>
      </p:sp>
      <p:sp>
        <p:nvSpPr>
          <p:cNvPr id="18" name="Shape 15"/>
          <p:cNvSpPr/>
          <p:nvPr/>
        </p:nvSpPr>
        <p:spPr>
          <a:xfrm>
            <a:off x="4754880" y="1682496"/>
            <a:ext cx="36576" cy="402336"/>
          </a:xfrm>
          <a:prstGeom prst="rect">
            <a:avLst/>
          </a:prstGeom>
          <a:solidFill>
            <a:srgbClr val="0D7C51"/>
          </a:solidFill>
        </p:spPr>
      </p:sp>
      <p:sp>
        <p:nvSpPr>
          <p:cNvPr id="19" name="Text 16"/>
          <p:cNvSpPr/>
          <p:nvPr/>
        </p:nvSpPr>
        <p:spPr>
          <a:xfrm>
            <a:off x="4937760" y="1728216"/>
            <a:ext cx="16459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团队可行性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675120" y="1728216"/>
            <a:ext cx="6400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7C5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高  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06640" y="1737360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5人能力互补，协同高效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754880" y="2157984"/>
            <a:ext cx="4023360" cy="402336"/>
          </a:xfrm>
          <a:prstGeom prst="rect">
            <a:avLst/>
          </a:prstGeom>
          <a:solidFill>
            <a:srgbClr val="F7F4EF"/>
          </a:solidFill>
        </p:spPr>
      </p:sp>
      <p:sp>
        <p:nvSpPr>
          <p:cNvPr id="23" name="Shape 20"/>
          <p:cNvSpPr/>
          <p:nvPr/>
        </p:nvSpPr>
        <p:spPr>
          <a:xfrm>
            <a:off x="4754880" y="2157984"/>
            <a:ext cx="36576" cy="402336"/>
          </a:xfrm>
          <a:prstGeom prst="rect">
            <a:avLst/>
          </a:prstGeom>
          <a:solidFill>
            <a:srgbClr val="1A6B5A"/>
          </a:solidFill>
        </p:spPr>
      </p:sp>
      <p:sp>
        <p:nvSpPr>
          <p:cNvPr id="24" name="Text 21"/>
          <p:cNvSpPr/>
          <p:nvPr/>
        </p:nvSpPr>
        <p:spPr>
          <a:xfrm>
            <a:off x="4937760" y="2203704"/>
            <a:ext cx="16459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经济可行性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675120" y="2203704"/>
            <a:ext cx="6400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6B5A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中高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7406640" y="2212848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Freemium 风险可控，零成本启动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754880" y="2633472"/>
            <a:ext cx="4023360" cy="402336"/>
          </a:xfrm>
          <a:prstGeom prst="rect">
            <a:avLst/>
          </a:prstGeom>
          <a:solidFill>
            <a:srgbClr val="F7F4EF"/>
          </a:solidFill>
        </p:spPr>
      </p:sp>
      <p:sp>
        <p:nvSpPr>
          <p:cNvPr id="28" name="Shape 25"/>
          <p:cNvSpPr/>
          <p:nvPr/>
        </p:nvSpPr>
        <p:spPr>
          <a:xfrm>
            <a:off x="4754880" y="2633472"/>
            <a:ext cx="36576" cy="402336"/>
          </a:xfrm>
          <a:prstGeom prst="rect">
            <a:avLst/>
          </a:prstGeom>
          <a:solidFill>
            <a:srgbClr val="B7791F"/>
          </a:solidFill>
        </p:spPr>
      </p:sp>
      <p:sp>
        <p:nvSpPr>
          <p:cNvPr id="29" name="Text 26"/>
          <p:cNvSpPr/>
          <p:nvPr/>
        </p:nvSpPr>
        <p:spPr>
          <a:xfrm>
            <a:off x="4937760" y="2679192"/>
            <a:ext cx="16459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时间可行性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675120" y="2679192"/>
            <a:ext cx="6400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7791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中  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7406640" y="2688336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12个月路径清晰可执行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/>
        </p:nvGraphicFramePr>
        <p:xfrm>
          <a:off x="182880" y="3291840"/>
          <a:ext cx="8778240" cy="1920240"/>
        </p:xfrm>
        <a:graphic>
          <a:graphicData uri="http://schemas.openxmlformats.org/drawingml/2006/table">
            <a:tbl>
              <a:tblPr/>
              <a:tblGrid>
                <a:gridCol w="1920240"/>
                <a:gridCol w="640080"/>
                <a:gridCol w="640080"/>
                <a:gridCol w="5577840"/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风险类型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概率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影响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应对策略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C5303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竞争：大平台跟进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中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高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6B5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速度优先 + 开源生态 + 聚焦垂直场景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市场：付费意愿低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中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高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6B5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Freemium 免费版足够好，靠口碑裂变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技术：解析准确率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中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中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6B5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持续迭代 + 人工审核兜底 + 知识库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运营：团队推进慢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中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低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6B5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最小化核心功能，快速迭代，明确分工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资金：初期零收入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低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2B4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低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6B5A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开源 + 零服务器成本启动，阶段三盈利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4C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49B4A"/>
          </a:solidFill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MVP 实现路径  —  两步走策略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先跑通核心流程，再叠加 AI 能力。降低风险，快速验证。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206240" cy="384048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4206240" cy="54864"/>
          </a:xfrm>
          <a:prstGeom prst="rect">
            <a:avLst/>
          </a:prstGeom>
          <a:solidFill>
            <a:srgbClr val="0D7C51"/>
          </a:solidFill>
        </p:spPr>
      </p:sp>
      <p:sp>
        <p:nvSpPr>
          <p:cNvPr id="7" name="Text 5"/>
          <p:cNvSpPr/>
          <p:nvPr/>
        </p:nvSpPr>
        <p:spPr>
          <a:xfrm>
            <a:off x="457200" y="91440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7C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第一阶段  ·  当前即可交付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170432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纯前端方案  ·  GitHub Pages 部署  ·  零后端成本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554480"/>
            <a:ext cx="292608" cy="292608"/>
          </a:xfrm>
          <a:prstGeom prst="ellipse">
            <a:avLst/>
          </a:prstGeom>
          <a:solidFill>
            <a:srgbClr val="0D7C51"/>
          </a:solidFill>
        </p:spPr>
      </p:sp>
      <p:sp>
        <p:nvSpPr>
          <p:cNvPr id="10" name="Text 8"/>
          <p:cNvSpPr/>
          <p:nvPr/>
        </p:nvSpPr>
        <p:spPr>
          <a:xfrm>
            <a:off x="502920" y="155448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508760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浏览器端解析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1728216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mammoth.js 在浏览器读取 .docx，无需上传服务器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03120"/>
            <a:ext cx="292608" cy="292608"/>
          </a:xfrm>
          <a:prstGeom prst="ellipse">
            <a:avLst/>
          </a:prstGeom>
          <a:solidFill>
            <a:srgbClr val="0D7C51"/>
          </a:solidFill>
        </p:spPr>
      </p:sp>
      <p:sp>
        <p:nvSpPr>
          <p:cNvPr id="14" name="Text 12"/>
          <p:cNvSpPr/>
          <p:nvPr/>
        </p:nvSpPr>
        <p:spPr>
          <a:xfrm>
            <a:off x="502920" y="21031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2057400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智能提取题目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276856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JS 规则引擎识别单选/多选/判断/填空格式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651760"/>
            <a:ext cx="292608" cy="292608"/>
          </a:xfrm>
          <a:prstGeom prst="ellipse">
            <a:avLst/>
          </a:prstGeom>
          <a:solidFill>
            <a:srgbClr val="0D7C51"/>
          </a:solidFill>
        </p:spPr>
      </p:sp>
      <p:sp>
        <p:nvSpPr>
          <p:cNvPr id="18" name="Text 16"/>
          <p:cNvSpPr/>
          <p:nvPr/>
        </p:nvSpPr>
        <p:spPr>
          <a:xfrm>
            <a:off x="502920" y="265176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606040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拖拽上传界面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4400" y="2825496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支持文件拖拽 + 点击上传，实时预览解析结果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200400"/>
            <a:ext cx="292608" cy="292608"/>
          </a:xfrm>
          <a:prstGeom prst="ellipse">
            <a:avLst/>
          </a:prstGeom>
          <a:solidFill>
            <a:srgbClr val="0D7C51"/>
          </a:solidFill>
        </p:spPr>
      </p:sp>
      <p:sp>
        <p:nvSpPr>
          <p:cNvPr id="22" name="Text 20"/>
          <p:cNvSpPr/>
          <p:nvPr/>
        </p:nvSpPr>
        <p:spPr>
          <a:xfrm>
            <a:off x="502920" y="320040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3154680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本地存储题库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374136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IndexedDB 持久化，刷新不丢失，离线可用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3749040"/>
            <a:ext cx="292608" cy="292608"/>
          </a:xfrm>
          <a:prstGeom prst="ellipse">
            <a:avLst/>
          </a:prstGeom>
          <a:solidFill>
            <a:srgbClr val="0D7C51"/>
          </a:solidFill>
        </p:spPr>
      </p:sp>
      <p:sp>
        <p:nvSpPr>
          <p:cNvPr id="26" name="Text 24"/>
          <p:cNvSpPr/>
          <p:nvPr/>
        </p:nvSpPr>
        <p:spPr>
          <a:xfrm>
            <a:off x="502920" y="374904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4400" y="3703320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题库即上线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4400" y="3922776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保存后立即可刷题，生成分享链接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777240"/>
            <a:ext cx="4206240" cy="3840480"/>
          </a:xfrm>
          <a:prstGeom prst="rect">
            <a:avLst/>
          </a:prstGeom>
          <a:solidFill>
            <a:srgbClr val="F7F4EF"/>
          </a:solidFill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777240"/>
            <a:ext cx="4206240" cy="54864"/>
          </a:xfrm>
          <a:prstGeom prst="rect">
            <a:avLst/>
          </a:prstGeom>
          <a:solidFill>
            <a:srgbClr val="C49B4A"/>
          </a:solidFill>
        </p:spPr>
      </p:sp>
      <p:sp>
        <p:nvSpPr>
          <p:cNvPr id="31" name="Text 29"/>
          <p:cNvSpPr/>
          <p:nvPr/>
        </p:nvSpPr>
        <p:spPr>
          <a:xfrm>
            <a:off x="4846320" y="91440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第二阶段  ·  后续迭代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846320" y="1170432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接入 AI  +  云端服务  ·  需要后端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92040" y="1554480"/>
            <a:ext cx="292608" cy="292608"/>
          </a:xfrm>
          <a:prstGeom prst="ellipse">
            <a:avLst/>
          </a:prstGeom>
          <a:solidFill>
            <a:srgbClr val="C49B4A"/>
          </a:solidFill>
        </p:spPr>
      </p:sp>
      <p:sp>
        <p:nvSpPr>
          <p:cNvPr id="34" name="Text 32"/>
          <p:cNvSpPr/>
          <p:nvPr/>
        </p:nvSpPr>
        <p:spPr>
          <a:xfrm>
            <a:off x="4892040" y="155448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303520" y="1508760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 智能出题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303520" y="1728216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无需预写 Q&amp;A 格式，AI 从原始文稿自动生成题目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2040" y="2103120"/>
            <a:ext cx="292608" cy="292608"/>
          </a:xfrm>
          <a:prstGeom prst="ellipse">
            <a:avLst/>
          </a:prstGeom>
          <a:solidFill>
            <a:srgbClr val="C49B4A"/>
          </a:solidFill>
        </p:spPr>
      </p:sp>
      <p:sp>
        <p:nvSpPr>
          <p:cNvPr id="38" name="Text 36"/>
          <p:cNvSpPr/>
          <p:nvPr/>
        </p:nvSpPr>
        <p:spPr>
          <a:xfrm>
            <a:off x="4892040" y="21031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303520" y="2057400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云存储同步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303520" y="2276856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题库云端备份，多设备同步，团队协作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92040" y="2651760"/>
            <a:ext cx="292608" cy="292608"/>
          </a:xfrm>
          <a:prstGeom prst="ellipse">
            <a:avLst/>
          </a:prstGeom>
          <a:solidFill>
            <a:srgbClr val="C49B4A"/>
          </a:solidFill>
        </p:spPr>
      </p:sp>
      <p:sp>
        <p:nvSpPr>
          <p:cNvPr id="42" name="Text 40"/>
          <p:cNvSpPr/>
          <p:nvPr/>
        </p:nvSpPr>
        <p:spPr>
          <a:xfrm>
            <a:off x="4892040" y="265176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3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03520" y="2606040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高级分析面板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303520" y="2825496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答题数据可视化，学习进度追踪，薄弱点分析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892040" y="3200400"/>
            <a:ext cx="292608" cy="292608"/>
          </a:xfrm>
          <a:prstGeom prst="ellipse">
            <a:avLst/>
          </a:prstGeom>
          <a:solidFill>
            <a:srgbClr val="C49B4A"/>
          </a:solidFill>
        </p:spPr>
      </p:sp>
      <p:sp>
        <p:nvSpPr>
          <p:cNvPr id="46" name="Text 44"/>
          <p:cNvSpPr/>
          <p:nvPr/>
        </p:nvSpPr>
        <p:spPr>
          <a:xfrm>
            <a:off x="4892040" y="320040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303520" y="3154680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微信小程序版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303520" y="3374136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原生微信小程序，分享到微信群即点即用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892040" y="3749040"/>
            <a:ext cx="292608" cy="292608"/>
          </a:xfrm>
          <a:prstGeom prst="ellipse">
            <a:avLst/>
          </a:prstGeom>
          <a:solidFill>
            <a:srgbClr val="C49B4A"/>
          </a:solidFill>
        </p:spPr>
      </p:sp>
      <p:sp>
        <p:nvSpPr>
          <p:cNvPr id="50" name="Text 48"/>
          <p:cNvSpPr/>
          <p:nvPr/>
        </p:nvSpPr>
        <p:spPr>
          <a:xfrm>
            <a:off x="4892040" y="374904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303520" y="3703320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开放 API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303520" y="3922776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供第三方系统集成，企业 SSO + 私有部署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74320" y="4800600"/>
            <a:ext cx="8595360" cy="228600"/>
          </a:xfrm>
          <a:prstGeom prst="rect">
            <a:avLst/>
          </a:prstGeom>
          <a:solidFill>
            <a:srgbClr val="E6F2EF"/>
          </a:solidFill>
        </p:spPr>
      </p:sp>
      <p:sp>
        <p:nvSpPr>
          <p:cNvPr id="54" name="Text 5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A6B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MVP 关键原则：先让「已有 Q&amp;A 格式的文档」能在线转化 → 验证用户需求 → 再叠加 AI 自动出题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1A6B5A">
              <a:alpha val="70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822960" y="1965960"/>
            <a:ext cx="1463040" cy="36576"/>
          </a:xfrm>
          <a:prstGeom prst="rect">
            <a:avLst/>
          </a:prstGeom>
          <a:solidFill>
            <a:srgbClr val="C49B4A"/>
          </a:solidFill>
        </p:spPr>
      </p:sp>
      <p:sp>
        <p:nvSpPr>
          <p:cNvPr id="4" name="Text 2"/>
          <p:cNvSpPr/>
          <p:nvPr/>
        </p:nvSpPr>
        <p:spPr>
          <a:xfrm>
            <a:off x="822960" y="640080"/>
            <a:ext cx="777240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从自己用，</a:t>
            </a:r>
            <a:r>
              <a:rPr lang="en-US" sz="2400" b="1" dirty="0">
                <a:solidFill>
                  <a:srgbClr val="C49B4A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到让别人用，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再到让所有有题库的人都能用。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82296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— 这就是 DocQuiz 从 0 到 1 的创业逻辑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团队成员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成员 A   ·   成员 B   ·   成员 C   ·   成员 D   ·   刘舟（NB）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977640"/>
            <a:ext cx="82296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4C9D0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DocQuiz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43891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谢 谢 ！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822960" y="489204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49B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liuzhou1204.github.io/quiz/      ·      github.com/liuzhou1204/quiz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5097</Words>
  <Application>WPS 演示</Application>
  <PresentationFormat>On-screen Show (16:9)</PresentationFormat>
  <Paragraphs>944</Paragraphs>
  <Slides>23</Slides>
  <Notes>23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7" baseType="lpstr">
      <vt:lpstr>Arial</vt:lpstr>
      <vt:lpstr>宋体</vt:lpstr>
      <vt:lpstr>Wingdings</vt:lpstr>
      <vt:lpstr>Georgia</vt:lpstr>
      <vt:lpstr>Georgia</vt:lpstr>
      <vt:lpstr>Georgia</vt:lpstr>
      <vt:lpstr>Calibri</vt:lpstr>
      <vt:lpstr>Calibri</vt:lpstr>
      <vt:lpstr>Calibri</vt:lpstr>
      <vt:lpstr>微软雅黑</vt:lpstr>
      <vt:lpstr>Arial Unicode MS</vt:lpstr>
      <vt:lpstr>等线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DocQuiz 从0到1 创新商业方案</dc:title>
  <dc:creator>NB &amp; Team (5人)</dc:creator>
  <dc:subject>PptxGenJS Presentation</dc:subject>
  <cp:lastModifiedBy>Liu</cp:lastModifiedBy>
  <cp:revision>2</cp:revision>
  <dcterms:created xsi:type="dcterms:W3CDTF">2026-05-28T09:32:00Z</dcterms:created>
  <dcterms:modified xsi:type="dcterms:W3CDTF">2026-05-29T01:41:51Z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6B85F3A458F641E09990C931D770E709_12</vt:lpwstr>
  </property>
  <property fmtid="{D5CDD505-2E9C-101B-9397-08002B2CF9AE}" pid="3" name="KSOProductBuildVer">
    <vt:lpwstr>2052-12.1.0.26375</vt:lpwstr>
  </property>
</Properties>
</file>